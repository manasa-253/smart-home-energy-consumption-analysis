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75" r:id="rId3"/>
    <p:sldId id="257" r:id="rId4"/>
    <p:sldId id="290" r:id="rId5"/>
    <p:sldId id="259" r:id="rId6"/>
    <p:sldId id="262" r:id="rId7"/>
    <p:sldId id="261" r:id="rId8"/>
    <p:sldId id="269" r:id="rId9"/>
    <p:sldId id="270" r:id="rId10"/>
    <p:sldId id="276" r:id="rId11"/>
    <p:sldId id="288" r:id="rId12"/>
    <p:sldId id="271" r:id="rId13"/>
    <p:sldId id="291" r:id="rId14"/>
    <p:sldId id="273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3" userDrawn="1">
          <p15:clr>
            <a:srgbClr val="A4A3A4"/>
          </p15:clr>
        </p15:guide>
        <p15:guide id="3" pos="325" userDrawn="1">
          <p15:clr>
            <a:srgbClr val="A4A3A4"/>
          </p15:clr>
        </p15:guide>
        <p15:guide id="4" pos="735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8783"/>
    <a:srgbClr val="097F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665"/>
    <p:restoredTop sz="94626"/>
  </p:normalViewPr>
  <p:slideViewPr>
    <p:cSldViewPr snapToGrid="0" snapToObjects="1" showGuides="1">
      <p:cViewPr varScale="1">
        <p:scale>
          <a:sx n="74" d="100"/>
          <a:sy n="74" d="100"/>
        </p:scale>
        <p:origin x="1147" y="43"/>
      </p:cViewPr>
      <p:guideLst>
        <p:guide orient="horz" pos="2160"/>
        <p:guide pos="3863"/>
        <p:guide pos="325"/>
        <p:guide pos="735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6499BB-23DF-A04B-A006-E4352A34EB0F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D52418-CEC9-AD41-8D78-31D2969991F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477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7C3E60DB-AF99-96E6-AE8C-1F6A89B8B9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4400" y="823238"/>
            <a:ext cx="3980362" cy="159799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288BDCC-4593-52EC-C9C3-BF80D8CE7665}"/>
              </a:ext>
            </a:extLst>
          </p:cNvPr>
          <p:cNvSpPr txBox="1"/>
          <p:nvPr userDrawn="1"/>
        </p:nvSpPr>
        <p:spPr>
          <a:xfrm>
            <a:off x="4786733" y="6301409"/>
            <a:ext cx="2335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#EducateToEnterprise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AE0A4C7B-DDE7-C7E2-BED9-38235BBF53E3}"/>
              </a:ext>
            </a:extLst>
          </p:cNvPr>
          <p:cNvGrpSpPr/>
          <p:nvPr userDrawn="1"/>
        </p:nvGrpSpPr>
        <p:grpSpPr>
          <a:xfrm>
            <a:off x="515936" y="724619"/>
            <a:ext cx="11160127" cy="4589253"/>
            <a:chOff x="515936" y="724619"/>
            <a:chExt cx="11160127" cy="458925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100D3263-2110-E50F-F5AF-BFDF4F184F58}"/>
                </a:ext>
              </a:extLst>
            </p:cNvPr>
            <p:cNvCxnSpPr>
              <a:cxnSpLocks/>
            </p:cNvCxnSpPr>
            <p:nvPr/>
          </p:nvCxnSpPr>
          <p:spPr>
            <a:xfrm>
              <a:off x="515938" y="724619"/>
              <a:ext cx="11160125" cy="0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770B7B97-7528-E28F-C964-A7B8DD9DA45B}"/>
                </a:ext>
              </a:extLst>
            </p:cNvPr>
            <p:cNvCxnSpPr/>
            <p:nvPr/>
          </p:nvCxnSpPr>
          <p:spPr>
            <a:xfrm>
              <a:off x="515938" y="724619"/>
              <a:ext cx="0" cy="4589253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F6950FE-E72F-4889-11C3-B3F22F9BD0D2}"/>
                </a:ext>
              </a:extLst>
            </p:cNvPr>
            <p:cNvCxnSpPr/>
            <p:nvPr/>
          </p:nvCxnSpPr>
          <p:spPr>
            <a:xfrm>
              <a:off x="515936" y="724619"/>
              <a:ext cx="2398143" cy="2398143"/>
            </a:xfrm>
            <a:prstGeom prst="line">
              <a:avLst/>
            </a:pr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923470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0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8D69DF7-B38B-304A-8FAD-81A2C0740F2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901796" y="1723292"/>
            <a:ext cx="3774266" cy="4679664"/>
          </a:xfrm>
          <a:prstGeom prst="roundRect">
            <a:avLst>
              <a:gd name="adj" fmla="val 3688"/>
            </a:avLst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4180638-FD0C-6DAD-A1B6-390497E4B69C}"/>
              </a:ext>
            </a:extLst>
          </p:cNvPr>
          <p:cNvCxnSpPr>
            <a:cxnSpLocks/>
          </p:cNvCxnSpPr>
          <p:nvPr userDrawn="1"/>
        </p:nvCxnSpPr>
        <p:spPr>
          <a:xfrm>
            <a:off x="515938" y="1376578"/>
            <a:ext cx="421133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CF140040-648E-83DA-F09D-40FC67D2C9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52263" y="96970"/>
            <a:ext cx="1760684" cy="706860"/>
          </a:xfrm>
          <a:prstGeom prst="rect">
            <a:avLst/>
          </a:prstGeom>
        </p:spPr>
      </p:pic>
      <p:sp>
        <p:nvSpPr>
          <p:cNvPr id="8" name="Google Shape;125;p30">
            <a:extLst>
              <a:ext uri="{FF2B5EF4-FFF2-40B4-BE49-F238E27FC236}">
                <a16:creationId xmlns:a16="http://schemas.microsoft.com/office/drawing/2014/main" id="{E38AB04A-0E37-FFDF-A310-2E498600D1FA}"/>
              </a:ext>
            </a:extLst>
          </p:cNvPr>
          <p:cNvSpPr txBox="1"/>
          <p:nvPr userDrawn="1"/>
        </p:nvSpPr>
        <p:spPr>
          <a:xfrm>
            <a:off x="312977" y="5638292"/>
            <a:ext cx="2976876" cy="1122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1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spc="600" dirty="0">
                <a:solidFill>
                  <a:schemeClr val="bg2">
                    <a:lumMod val="90000"/>
                  </a:schemeClr>
                </a:solidFill>
                <a:latin typeface="Glacial Indifference" pitchFamily="2" charset="0"/>
                <a:ea typeface="Roboto"/>
                <a:cs typeface="Roboto"/>
                <a:sym typeface="Roboto"/>
              </a:rPr>
              <a:t>E 2 E</a:t>
            </a:r>
            <a:endParaRPr sz="7200" spc="600" dirty="0">
              <a:solidFill>
                <a:schemeClr val="bg2">
                  <a:lumMod val="90000"/>
                </a:schemeClr>
              </a:solidFill>
              <a:latin typeface="Glacial Indifference" pitchFamily="2" charset="0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8413497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8D69DF7-B38B-304A-8FAD-81A2C0740F2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901796" y="455044"/>
            <a:ext cx="3774266" cy="5947912"/>
          </a:xfrm>
          <a:prstGeom prst="roundRect">
            <a:avLst>
              <a:gd name="adj" fmla="val 3688"/>
            </a:avLst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4180638-FD0C-6DAD-A1B6-390497E4B69C}"/>
              </a:ext>
            </a:extLst>
          </p:cNvPr>
          <p:cNvCxnSpPr>
            <a:cxnSpLocks/>
          </p:cNvCxnSpPr>
          <p:nvPr userDrawn="1"/>
        </p:nvCxnSpPr>
        <p:spPr>
          <a:xfrm>
            <a:off x="515938" y="1376578"/>
            <a:ext cx="421133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53932424-3A4A-108C-F095-D723D3BA4B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7564" y="101614"/>
            <a:ext cx="1763782" cy="706859"/>
          </a:xfrm>
          <a:prstGeom prst="rect">
            <a:avLst/>
          </a:prstGeom>
        </p:spPr>
      </p:pic>
      <p:sp>
        <p:nvSpPr>
          <p:cNvPr id="3" name="Google Shape;125;p30">
            <a:extLst>
              <a:ext uri="{FF2B5EF4-FFF2-40B4-BE49-F238E27FC236}">
                <a16:creationId xmlns:a16="http://schemas.microsoft.com/office/drawing/2014/main" id="{16653ACE-3F72-1A33-B51C-DACC94B9813E}"/>
              </a:ext>
            </a:extLst>
          </p:cNvPr>
          <p:cNvSpPr txBox="1"/>
          <p:nvPr userDrawn="1"/>
        </p:nvSpPr>
        <p:spPr>
          <a:xfrm>
            <a:off x="312977" y="5638292"/>
            <a:ext cx="2976876" cy="1122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1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spc="600" dirty="0">
                <a:solidFill>
                  <a:schemeClr val="bg1">
                    <a:lumMod val="95000"/>
                  </a:schemeClr>
                </a:solidFill>
                <a:latin typeface="Glacial Indifference" pitchFamily="2" charset="0"/>
                <a:ea typeface="Roboto"/>
                <a:cs typeface="Roboto"/>
                <a:sym typeface="Roboto"/>
              </a:rPr>
              <a:t>E 2 E</a:t>
            </a:r>
            <a:endParaRPr sz="7200" spc="600" dirty="0">
              <a:solidFill>
                <a:schemeClr val="bg1">
                  <a:lumMod val="95000"/>
                </a:schemeClr>
              </a:solidFill>
              <a:latin typeface="Glacial Indifference" pitchFamily="2" charset="0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0781006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7786DD45-9C27-C34B-B400-3F94A162A85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15938" y="624840"/>
            <a:ext cx="4056062" cy="5608320"/>
          </a:xfrm>
          <a:prstGeom prst="roundRect">
            <a:avLst>
              <a:gd name="adj" fmla="val 3688"/>
            </a:avLst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11D6C112-B347-CAE9-B90B-291114EA5C2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52263" y="96970"/>
            <a:ext cx="1760684" cy="706860"/>
          </a:xfrm>
          <a:prstGeom prst="rect">
            <a:avLst/>
          </a:prstGeom>
        </p:spPr>
      </p:pic>
      <p:sp>
        <p:nvSpPr>
          <p:cNvPr id="7" name="Google Shape;125;p30">
            <a:extLst>
              <a:ext uri="{FF2B5EF4-FFF2-40B4-BE49-F238E27FC236}">
                <a16:creationId xmlns:a16="http://schemas.microsoft.com/office/drawing/2014/main" id="{71389729-22BD-9345-EF2C-2847B6B31BE9}"/>
              </a:ext>
            </a:extLst>
          </p:cNvPr>
          <p:cNvSpPr txBox="1"/>
          <p:nvPr userDrawn="1"/>
        </p:nvSpPr>
        <p:spPr>
          <a:xfrm>
            <a:off x="312977" y="5638292"/>
            <a:ext cx="2976876" cy="1122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1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spc="600" dirty="0">
                <a:solidFill>
                  <a:schemeClr val="bg1">
                    <a:lumMod val="95000"/>
                  </a:schemeClr>
                </a:solidFill>
                <a:latin typeface="Glacial Indifference" pitchFamily="2" charset="0"/>
                <a:ea typeface="Roboto"/>
                <a:cs typeface="Roboto"/>
                <a:sym typeface="Roboto"/>
              </a:rPr>
              <a:t>E 2 E</a:t>
            </a:r>
            <a:endParaRPr sz="7200" spc="600" dirty="0">
              <a:solidFill>
                <a:schemeClr val="bg1">
                  <a:lumMod val="95000"/>
                </a:schemeClr>
              </a:solidFill>
              <a:latin typeface="Glacial Indifference" pitchFamily="2" charset="0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40566511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CE768D1D-1E9F-D648-B748-4650F91259E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-281556" y="3019894"/>
            <a:ext cx="4190060" cy="3838106"/>
          </a:xfrm>
          <a:prstGeom prst="round2SameRect">
            <a:avLst>
              <a:gd name="adj1" fmla="val 4464"/>
              <a:gd name="adj2" fmla="val 0"/>
            </a:avLst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5C39FB-74E7-3227-BAFF-BCE2C799F7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7564" y="101614"/>
            <a:ext cx="1763782" cy="706859"/>
          </a:xfrm>
          <a:prstGeom prst="rect">
            <a:avLst/>
          </a:prstGeom>
        </p:spPr>
      </p:pic>
      <p:sp>
        <p:nvSpPr>
          <p:cNvPr id="5" name="Google Shape;125;p30">
            <a:extLst>
              <a:ext uri="{FF2B5EF4-FFF2-40B4-BE49-F238E27FC236}">
                <a16:creationId xmlns:a16="http://schemas.microsoft.com/office/drawing/2014/main" id="{C26E5CCF-2EF4-4AB6-7E7A-E12BAEA4821E}"/>
              </a:ext>
            </a:extLst>
          </p:cNvPr>
          <p:cNvSpPr txBox="1"/>
          <p:nvPr userDrawn="1"/>
        </p:nvSpPr>
        <p:spPr>
          <a:xfrm>
            <a:off x="312977" y="5638292"/>
            <a:ext cx="2976876" cy="1122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1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spc="600" dirty="0">
                <a:solidFill>
                  <a:schemeClr val="bg1">
                    <a:lumMod val="95000"/>
                  </a:schemeClr>
                </a:solidFill>
                <a:latin typeface="Glacial Indifference" pitchFamily="2" charset="0"/>
                <a:ea typeface="Roboto"/>
                <a:cs typeface="Roboto"/>
                <a:sym typeface="Roboto"/>
              </a:rPr>
              <a:t>E 2 E</a:t>
            </a:r>
            <a:endParaRPr sz="7200" spc="600" dirty="0">
              <a:solidFill>
                <a:schemeClr val="bg1">
                  <a:lumMod val="95000"/>
                </a:schemeClr>
              </a:solidFill>
              <a:latin typeface="Glacial Indifference" pitchFamily="2" charset="0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8659215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58E1F102-3EE9-704F-B645-7DF5023A4B9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929621" y="1388526"/>
            <a:ext cx="4746441" cy="4257625"/>
          </a:xfrm>
          <a:prstGeom prst="round2SameRect">
            <a:avLst>
              <a:gd name="adj1" fmla="val 0"/>
              <a:gd name="adj2" fmla="val 0"/>
            </a:avLst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8FDBAA-1611-2D35-75AB-F8C6AC8BC3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7564" y="101614"/>
            <a:ext cx="1763782" cy="706859"/>
          </a:xfrm>
          <a:prstGeom prst="rect">
            <a:avLst/>
          </a:prstGeom>
        </p:spPr>
      </p:pic>
      <p:sp>
        <p:nvSpPr>
          <p:cNvPr id="5" name="Google Shape;125;p30">
            <a:extLst>
              <a:ext uri="{FF2B5EF4-FFF2-40B4-BE49-F238E27FC236}">
                <a16:creationId xmlns:a16="http://schemas.microsoft.com/office/drawing/2014/main" id="{9D9FD2A3-875F-23ED-CF9C-6C540CDDC309}"/>
              </a:ext>
            </a:extLst>
          </p:cNvPr>
          <p:cNvSpPr txBox="1"/>
          <p:nvPr userDrawn="1"/>
        </p:nvSpPr>
        <p:spPr>
          <a:xfrm>
            <a:off x="312977" y="5638292"/>
            <a:ext cx="2976876" cy="1122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1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spc="600" dirty="0">
                <a:solidFill>
                  <a:schemeClr val="bg1">
                    <a:lumMod val="95000"/>
                  </a:schemeClr>
                </a:solidFill>
                <a:latin typeface="Glacial Indifference" pitchFamily="2" charset="0"/>
                <a:ea typeface="Roboto"/>
                <a:cs typeface="Roboto"/>
                <a:sym typeface="Roboto"/>
              </a:rPr>
              <a:t>E 2 E</a:t>
            </a:r>
            <a:endParaRPr sz="7200" spc="600" dirty="0">
              <a:solidFill>
                <a:schemeClr val="bg1">
                  <a:lumMod val="95000"/>
                </a:schemeClr>
              </a:solidFill>
              <a:latin typeface="Glacial Indifference" pitchFamily="2" charset="0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3881427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443C5315-F70A-6F4A-AC56-6D7DADD5338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600201"/>
            <a:ext cx="12192000" cy="2680636"/>
          </a:xfrm>
          <a:prstGeom prst="round2SameRect">
            <a:avLst>
              <a:gd name="adj1" fmla="val 0"/>
              <a:gd name="adj2" fmla="val 0"/>
            </a:avLst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  <p:pic>
        <p:nvPicPr>
          <p:cNvPr id="5" name="Picture 4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E0C3C926-4CDF-8FB4-5636-C513301703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152263" y="96970"/>
            <a:ext cx="1760684" cy="706860"/>
          </a:xfrm>
          <a:prstGeom prst="rect">
            <a:avLst/>
          </a:prstGeom>
        </p:spPr>
      </p:pic>
      <p:sp>
        <p:nvSpPr>
          <p:cNvPr id="8" name="Google Shape;125;p30">
            <a:extLst>
              <a:ext uri="{FF2B5EF4-FFF2-40B4-BE49-F238E27FC236}">
                <a16:creationId xmlns:a16="http://schemas.microsoft.com/office/drawing/2014/main" id="{A63B813D-B28E-C758-DE10-05AA9A4D50B1}"/>
              </a:ext>
            </a:extLst>
          </p:cNvPr>
          <p:cNvSpPr txBox="1"/>
          <p:nvPr userDrawn="1"/>
        </p:nvSpPr>
        <p:spPr>
          <a:xfrm>
            <a:off x="312977" y="5638292"/>
            <a:ext cx="2976876" cy="1122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1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spc="600" dirty="0">
                <a:solidFill>
                  <a:schemeClr val="bg1">
                    <a:lumMod val="95000"/>
                  </a:schemeClr>
                </a:solidFill>
                <a:latin typeface="Glacial Indifference" pitchFamily="2" charset="0"/>
                <a:ea typeface="Roboto"/>
                <a:cs typeface="Roboto"/>
                <a:sym typeface="Roboto"/>
              </a:rPr>
              <a:t>E 2 E</a:t>
            </a:r>
            <a:endParaRPr sz="7200" spc="600" dirty="0">
              <a:solidFill>
                <a:schemeClr val="bg1">
                  <a:lumMod val="95000"/>
                </a:schemeClr>
              </a:solidFill>
              <a:latin typeface="Glacial Indifference" pitchFamily="2" charset="0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4155756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8">
            <a:extLst>
              <a:ext uri="{FF2B5EF4-FFF2-40B4-BE49-F238E27FC236}">
                <a16:creationId xmlns:a16="http://schemas.microsoft.com/office/drawing/2014/main" id="{52188AAE-671F-A84E-A222-710127E27E7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12977" y="2020452"/>
            <a:ext cx="6250430" cy="3177713"/>
          </a:xfrm>
          <a:prstGeom prst="round2SameRect">
            <a:avLst>
              <a:gd name="adj1" fmla="val 6096"/>
              <a:gd name="adj2" fmla="val 0"/>
            </a:avLst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7FF208-3496-1A98-A8D6-19C1B27558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7564" y="101614"/>
            <a:ext cx="1763782" cy="706859"/>
          </a:xfrm>
          <a:prstGeom prst="rect">
            <a:avLst/>
          </a:prstGeom>
        </p:spPr>
      </p:pic>
      <p:sp>
        <p:nvSpPr>
          <p:cNvPr id="5" name="Google Shape;125;p30">
            <a:extLst>
              <a:ext uri="{FF2B5EF4-FFF2-40B4-BE49-F238E27FC236}">
                <a16:creationId xmlns:a16="http://schemas.microsoft.com/office/drawing/2014/main" id="{06D80AE2-5399-977F-86D6-BCC8517DAB14}"/>
              </a:ext>
            </a:extLst>
          </p:cNvPr>
          <p:cNvSpPr txBox="1"/>
          <p:nvPr userDrawn="1"/>
        </p:nvSpPr>
        <p:spPr>
          <a:xfrm>
            <a:off x="312977" y="5638292"/>
            <a:ext cx="2976876" cy="1122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1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spc="600" dirty="0">
                <a:solidFill>
                  <a:schemeClr val="bg1">
                    <a:lumMod val="95000"/>
                  </a:schemeClr>
                </a:solidFill>
                <a:latin typeface="Glacial Indifference" pitchFamily="2" charset="0"/>
                <a:ea typeface="Roboto"/>
                <a:cs typeface="Roboto"/>
                <a:sym typeface="Roboto"/>
              </a:rPr>
              <a:t>E 2 E</a:t>
            </a:r>
            <a:endParaRPr sz="7200" spc="600" dirty="0">
              <a:solidFill>
                <a:schemeClr val="bg1">
                  <a:lumMod val="95000"/>
                </a:schemeClr>
              </a:solidFill>
              <a:latin typeface="Glacial Indifference" pitchFamily="2" charset="0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2105275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BAC8BD0-A63C-3F49-9042-82FC1ED1E1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15937" y="1124743"/>
            <a:ext cx="6295409" cy="3320897"/>
          </a:xfrm>
          <a:prstGeom prst="roundRect">
            <a:avLst>
              <a:gd name="adj" fmla="val 3688"/>
            </a:avLst>
          </a:pr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8AB28C2-2D1A-372A-64A5-D59D93BA54A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7564" y="101614"/>
            <a:ext cx="1763782" cy="706859"/>
          </a:xfrm>
          <a:prstGeom prst="rect">
            <a:avLst/>
          </a:prstGeom>
        </p:spPr>
      </p:pic>
      <p:sp>
        <p:nvSpPr>
          <p:cNvPr id="5" name="Google Shape;125;p30">
            <a:extLst>
              <a:ext uri="{FF2B5EF4-FFF2-40B4-BE49-F238E27FC236}">
                <a16:creationId xmlns:a16="http://schemas.microsoft.com/office/drawing/2014/main" id="{55187082-DF0B-DF31-41EB-C2F4A0EE9137}"/>
              </a:ext>
            </a:extLst>
          </p:cNvPr>
          <p:cNvSpPr txBox="1"/>
          <p:nvPr userDrawn="1"/>
        </p:nvSpPr>
        <p:spPr>
          <a:xfrm>
            <a:off x="312977" y="5638292"/>
            <a:ext cx="2976876" cy="1122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4600" rIns="0" bIns="0" anchor="t" anchorCtr="0">
            <a:spAutoFit/>
          </a:bodyPr>
          <a:lstStyle/>
          <a:p>
            <a:pPr marL="12701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spc="600" dirty="0">
                <a:solidFill>
                  <a:schemeClr val="bg1">
                    <a:lumMod val="95000"/>
                  </a:schemeClr>
                </a:solidFill>
                <a:latin typeface="Glacial Indifference" pitchFamily="2" charset="0"/>
                <a:ea typeface="Roboto"/>
                <a:cs typeface="Roboto"/>
                <a:sym typeface="Roboto"/>
              </a:rPr>
              <a:t>E 2 E</a:t>
            </a:r>
            <a:endParaRPr sz="7200" spc="600" dirty="0">
              <a:solidFill>
                <a:schemeClr val="bg1">
                  <a:lumMod val="95000"/>
                </a:schemeClr>
              </a:solidFill>
              <a:latin typeface="Glacial Indifference" pitchFamily="2" charset="0"/>
              <a:ea typeface="Roboto"/>
              <a:cs typeface="Roboto"/>
              <a:sym typeface="Roboto"/>
            </a:endParaRPr>
          </a:p>
        </p:txBody>
      </p:sp>
    </p:spTree>
    <p:extLst>
      <p:ext uri="{BB962C8B-B14F-4D97-AF65-F5344CB8AC3E}">
        <p14:creationId xmlns:p14="http://schemas.microsoft.com/office/powerpoint/2010/main" val="7081367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20B2915-CE0F-6C4C-9E55-B6E148972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4279E0-994C-C543-867F-8C6950F061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F75487-17D2-9D47-9657-2CE81B42E2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371589-2BDF-CB41-A6E5-57492F945B2E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F3F84A-CC15-CC4F-86C4-E6EB0FADC7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B09C3E-A7CE-C448-84E2-C436C83FE7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E078F8-F842-FB4B-9F54-E6C983E097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4565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7" r:id="rId3"/>
    <p:sldLayoutId id="2147483651" r:id="rId4"/>
    <p:sldLayoutId id="2147483653" r:id="rId5"/>
    <p:sldLayoutId id="2147483652" r:id="rId6"/>
    <p:sldLayoutId id="2147483654" r:id="rId7"/>
    <p:sldLayoutId id="2147483655" r:id="rId8"/>
    <p:sldLayoutId id="2147483656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ED8783">
                <a:lumMod val="85000"/>
                <a:lumOff val="15000"/>
              </a:srgbClr>
            </a:gs>
            <a:gs pos="100000">
              <a:srgbClr val="097F8B">
                <a:lumMod val="98000"/>
                <a:lumOff val="2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7">
            <a:extLst>
              <a:ext uri="{FF2B5EF4-FFF2-40B4-BE49-F238E27FC236}">
                <a16:creationId xmlns:a16="http://schemas.microsoft.com/office/drawing/2014/main" id="{F9A7D5EB-CBFC-964A-9CBA-D38551A97DEE}"/>
              </a:ext>
            </a:extLst>
          </p:cNvPr>
          <p:cNvSpPr txBox="1"/>
          <p:nvPr/>
        </p:nvSpPr>
        <p:spPr>
          <a:xfrm>
            <a:off x="983797" y="2615416"/>
            <a:ext cx="10601324" cy="22159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5400" dirty="0"/>
              <a:t>Project Name: Smart Home Energy Consumption Analysis using </a:t>
            </a:r>
            <a:r>
              <a:rPr lang="en-US" sz="5400" dirty="0" err="1"/>
              <a:t>PySpark</a:t>
            </a:r>
            <a:br>
              <a:rPr lang="en-US" sz="5400" dirty="0"/>
            </a:br>
            <a:r>
              <a:rPr lang="en-US" sz="3600" dirty="0"/>
              <a:t>Big Data Analytics Lab-B22EF0505</a:t>
            </a:r>
            <a:endParaRPr lang="en-US" sz="3600" dirty="0">
              <a:solidFill>
                <a:schemeClr val="bg1"/>
              </a:solidFill>
              <a:latin typeface="Glacial Indifference" pitchFamily="2" charset="0"/>
              <a:ea typeface="Jost" pitchFamily="2" charset="0"/>
              <a:cs typeface="Poppins" pitchFamily="2" charset="7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AAF3C5-3300-7445-8427-CCCC451D27FB}"/>
              </a:ext>
            </a:extLst>
          </p:cNvPr>
          <p:cNvSpPr txBox="1"/>
          <p:nvPr/>
        </p:nvSpPr>
        <p:spPr>
          <a:xfrm>
            <a:off x="606879" y="4831407"/>
            <a:ext cx="3780276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D" sz="2400" dirty="0">
                <a:solidFill>
                  <a:schemeClr val="bg1"/>
                </a:solidFill>
                <a:effectLst/>
                <a:latin typeface="Glacial Indifference" pitchFamily="2" charset="0"/>
                <a:ea typeface="Open Sans SemiBold" pitchFamily="2" charset="0"/>
                <a:cs typeface="Poppins" pitchFamily="2" charset="77"/>
              </a:rPr>
              <a:t>Presented By :</a:t>
            </a:r>
          </a:p>
          <a:p>
            <a:r>
              <a:rPr lang="en-US" sz="2400" b="1" dirty="0">
                <a:latin typeface="Times New Roman" panose="02020603050405020304" pitchFamily="18" charset="0"/>
              </a:rPr>
              <a:t>Manasa KM (</a:t>
            </a:r>
            <a:r>
              <a:rPr lang="en-US" sz="2400" b="1" dirty="0">
                <a:latin typeface="Times New Roman" panose="02020603050405020304" pitchFamily="18" charset="0"/>
                <a:ea typeface="Calibri" panose="020F0502020204030204" pitchFamily="34" charset="0"/>
              </a:rPr>
              <a:t>R23EH063)</a:t>
            </a:r>
            <a:endParaRPr lang="en-US" sz="2400" b="1" dirty="0">
              <a:latin typeface="Times New Roman" panose="02020603050405020304" pitchFamily="18" charset="0"/>
            </a:endParaRPr>
          </a:p>
          <a:p>
            <a:r>
              <a:rPr lang="en-ID" sz="2400" dirty="0">
                <a:solidFill>
                  <a:schemeClr val="bg1"/>
                </a:solidFill>
                <a:effectLst/>
                <a:latin typeface="Glacial Indifference" pitchFamily="2" charset="0"/>
                <a:ea typeface="Open Sans SemiBold" pitchFamily="2" charset="0"/>
                <a:cs typeface="Poppins" pitchFamily="2" charset="77"/>
              </a:rPr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9CFF64-7DFF-497D-AE90-BEF412635E34}"/>
              </a:ext>
            </a:extLst>
          </p:cNvPr>
          <p:cNvSpPr txBox="1"/>
          <p:nvPr/>
        </p:nvSpPr>
        <p:spPr>
          <a:xfrm>
            <a:off x="8271571" y="4831407"/>
            <a:ext cx="3780276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400" dirty="0">
                <a:solidFill>
                  <a:schemeClr val="bg1"/>
                </a:solidFill>
                <a:latin typeface="Glacial Indifference" pitchFamily="2" charset="0"/>
                <a:ea typeface="Open Sans SemiBold" pitchFamily="2" charset="0"/>
                <a:cs typeface="Poppins" pitchFamily="2" charset="77"/>
              </a:rPr>
              <a:t>Lab handling Mentor Name: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ea typeface="Open Sans SemiBold" pitchFamily="2" charset="0"/>
                <a:cs typeface="Times New Roman" panose="02020603050405020304" pitchFamily="18" charset="0"/>
              </a:rPr>
              <a:t>Dr. </a:t>
            </a:r>
            <a:r>
              <a:rPr lang="en-US" altLang="en-US" sz="2400" dirty="0" err="1">
                <a:latin typeface="Times New Roman" panose="02020603050405020304" pitchFamily="18" charset="0"/>
                <a:ea typeface="Open Sans SemiBold" pitchFamily="2" charset="0"/>
                <a:cs typeface="Times New Roman" panose="02020603050405020304" pitchFamily="18" charset="0"/>
              </a:rPr>
              <a:t>Sheelavathy</a:t>
            </a:r>
            <a:r>
              <a:rPr lang="en-US" altLang="en-US" sz="2400" dirty="0">
                <a:latin typeface="Times New Roman" panose="02020603050405020304" pitchFamily="18" charset="0"/>
                <a:ea typeface="Open Sans SemiBold" pitchFamily="2" charset="0"/>
                <a:cs typeface="Times New Roman" panose="02020603050405020304" pitchFamily="18" charset="0"/>
              </a:rPr>
              <a:t> KV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ea typeface="Open Sans SemiBold" pitchFamily="2" charset="0"/>
                <a:cs typeface="Times New Roman" panose="02020603050405020304" pitchFamily="18" charset="0"/>
              </a:rPr>
              <a:t>Dr. Ajil A</a:t>
            </a:r>
          </a:p>
          <a:p>
            <a:r>
              <a:rPr lang="en-US" altLang="en-US" sz="2400" dirty="0">
                <a:latin typeface="Times New Roman" panose="02020603050405020304" pitchFamily="18" charset="0"/>
                <a:ea typeface="Open Sans SemiBold" pitchFamily="2" charset="0"/>
                <a:cs typeface="Times New Roman" panose="02020603050405020304" pitchFamily="18" charset="0"/>
              </a:rPr>
              <a:t>Dr. Syed Muzamil Pasha</a:t>
            </a:r>
          </a:p>
          <a:p>
            <a:endParaRPr lang="en-US" altLang="en-US" sz="2400" dirty="0">
              <a:solidFill>
                <a:schemeClr val="bg1"/>
              </a:solidFill>
              <a:latin typeface="Glacial Indifference" pitchFamily="2" charset="0"/>
              <a:ea typeface="Open Sans SemiBold" pitchFamily="2" charset="0"/>
              <a:cs typeface="Poppins" pitchFamily="2" charset="7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97953A-9FE7-4B94-9EAD-7A094C5F1E25}"/>
              </a:ext>
            </a:extLst>
          </p:cNvPr>
          <p:cNvSpPr txBox="1"/>
          <p:nvPr/>
        </p:nvSpPr>
        <p:spPr>
          <a:xfrm rot="10800000" flipV="1">
            <a:off x="606879" y="5912650"/>
            <a:ext cx="21065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latin typeface="Times New Roman" panose="02020603050405020304" pitchFamily="18" charset="0"/>
              </a:rPr>
              <a:t>Sem:</a:t>
            </a:r>
            <a:r>
              <a:rPr lang="en-US" b="1" dirty="0">
                <a:latin typeface="Times New Roman" panose="02020603050405020304" pitchFamily="18" charset="0"/>
              </a:rPr>
              <a:t>5</a:t>
            </a:r>
            <a:r>
              <a:rPr lang="en-US" b="1" baseline="30000" dirty="0">
                <a:latin typeface="Times New Roman" panose="02020603050405020304" pitchFamily="18" charset="0"/>
              </a:rPr>
              <a:t>th</a:t>
            </a:r>
            <a:r>
              <a:rPr lang="en-US" b="1" dirty="0">
                <a:latin typeface="Times New Roman" panose="02020603050405020304" pitchFamily="18" charset="0"/>
              </a:rPr>
              <a:t> / Section: B</a:t>
            </a:r>
            <a:endParaRPr lang="en-US" sz="1800" b="1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55956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D8783">
                <a:lumMod val="85000"/>
                <a:lumOff val="15000"/>
              </a:srgbClr>
            </a:gs>
            <a:gs pos="100000">
              <a:srgbClr val="097F8B">
                <a:lumMod val="98000"/>
                <a:lumOff val="2000"/>
              </a:srgbClr>
            </a:gs>
          </a:gsLst>
          <a:path path="circle">
            <a:fillToRect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7">
            <a:extLst>
              <a:ext uri="{FF2B5EF4-FFF2-40B4-BE49-F238E27FC236}">
                <a16:creationId xmlns:a16="http://schemas.microsoft.com/office/drawing/2014/main" id="{2E01BD2E-3187-2343-866C-F0B6121A2EEE}"/>
              </a:ext>
            </a:extLst>
          </p:cNvPr>
          <p:cNvSpPr txBox="1"/>
          <p:nvPr/>
        </p:nvSpPr>
        <p:spPr>
          <a:xfrm>
            <a:off x="515938" y="253426"/>
            <a:ext cx="8438282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0" dirty="0">
                <a:solidFill>
                  <a:schemeClr val="bg1"/>
                </a:solidFill>
                <a:latin typeface="Glacial Indifference" pitchFamily="2" charset="0"/>
                <a:ea typeface="Jost" pitchFamily="2" charset="0"/>
                <a:cs typeface="Poppins" pitchFamily="2" charset="77"/>
              </a:rPr>
              <a:t>Table Of Contents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03561B-BC7F-4146-A30B-7D59BB7C6994}"/>
              </a:ext>
            </a:extLst>
          </p:cNvPr>
          <p:cNvSpPr txBox="1"/>
          <p:nvPr/>
        </p:nvSpPr>
        <p:spPr>
          <a:xfrm>
            <a:off x="538143" y="1735747"/>
            <a:ext cx="958930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D" sz="5400" dirty="0">
                <a:solidFill>
                  <a:schemeClr val="bg1"/>
                </a:solidFill>
                <a:effectLst/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01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718821-3A30-5F44-B386-485B50F01C22}"/>
              </a:ext>
            </a:extLst>
          </p:cNvPr>
          <p:cNvSpPr txBox="1"/>
          <p:nvPr/>
        </p:nvSpPr>
        <p:spPr>
          <a:xfrm>
            <a:off x="1540758" y="1856022"/>
            <a:ext cx="2104670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/>
            <a:r>
              <a:rPr lang="en-US" sz="2800" dirty="0"/>
              <a:t>Abstract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9676236-4086-384C-AAA6-1EE795DD92D3}"/>
              </a:ext>
            </a:extLst>
          </p:cNvPr>
          <p:cNvSpPr txBox="1"/>
          <p:nvPr/>
        </p:nvSpPr>
        <p:spPr>
          <a:xfrm>
            <a:off x="4536055" y="1735747"/>
            <a:ext cx="958930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D" sz="5400" dirty="0">
                <a:solidFill>
                  <a:schemeClr val="bg1"/>
                </a:solidFill>
                <a:effectLst/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02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B91D3C-9E5A-264C-8D34-E3E25D4E5BEA}"/>
              </a:ext>
            </a:extLst>
          </p:cNvPr>
          <p:cNvSpPr txBox="1"/>
          <p:nvPr/>
        </p:nvSpPr>
        <p:spPr>
          <a:xfrm>
            <a:off x="5538670" y="1856022"/>
            <a:ext cx="2104670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800" dirty="0"/>
              <a:t>Introduction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4DF6677-C641-0A4D-9303-01CA93C134C4}"/>
              </a:ext>
            </a:extLst>
          </p:cNvPr>
          <p:cNvSpPr txBox="1"/>
          <p:nvPr/>
        </p:nvSpPr>
        <p:spPr>
          <a:xfrm>
            <a:off x="8361436" y="1735747"/>
            <a:ext cx="958930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D" sz="5400" dirty="0">
                <a:solidFill>
                  <a:schemeClr val="bg1"/>
                </a:solidFill>
                <a:effectLst/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03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2F4C570-3A40-9348-8E6A-E33E70A39D76}"/>
              </a:ext>
            </a:extLst>
          </p:cNvPr>
          <p:cNvSpPr txBox="1"/>
          <p:nvPr/>
        </p:nvSpPr>
        <p:spPr>
          <a:xfrm>
            <a:off x="9126960" y="1856022"/>
            <a:ext cx="2774527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400" dirty="0">
                <a:latin typeface="Glacial Indifference" pitchFamily="2" charset="0"/>
                <a:ea typeface="Jost" pitchFamily="2" charset="0"/>
                <a:cs typeface="Poppins" pitchFamily="2" charset="77"/>
              </a:rPr>
              <a:t>Objectives</a:t>
            </a:r>
          </a:p>
          <a:p>
            <a:pPr lvl="0"/>
            <a:endParaRPr lang="en-US" sz="24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1F86C3-94A1-A15F-9240-07F13811175A}"/>
              </a:ext>
            </a:extLst>
          </p:cNvPr>
          <p:cNvSpPr txBox="1"/>
          <p:nvPr/>
        </p:nvSpPr>
        <p:spPr>
          <a:xfrm>
            <a:off x="594229" y="4178862"/>
            <a:ext cx="958930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D" sz="5400" dirty="0">
                <a:solidFill>
                  <a:schemeClr val="bg1"/>
                </a:solidFill>
                <a:effectLst/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04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3E33ECB-0CAC-549D-58D4-B17B5CEDB608}"/>
              </a:ext>
            </a:extLst>
          </p:cNvPr>
          <p:cNvSpPr txBox="1"/>
          <p:nvPr/>
        </p:nvSpPr>
        <p:spPr>
          <a:xfrm>
            <a:off x="1596843" y="4299137"/>
            <a:ext cx="2560819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/>
            <a:r>
              <a:rPr lang="en-US" sz="2400" dirty="0"/>
              <a:t>Literature Review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2C46E13-A2FC-6791-7F37-A40AEE22550A}"/>
              </a:ext>
            </a:extLst>
          </p:cNvPr>
          <p:cNvSpPr txBox="1"/>
          <p:nvPr/>
        </p:nvSpPr>
        <p:spPr>
          <a:xfrm>
            <a:off x="4592141" y="4178862"/>
            <a:ext cx="958930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D" sz="5400" dirty="0">
                <a:solidFill>
                  <a:schemeClr val="bg1"/>
                </a:solidFill>
                <a:effectLst/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05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43E62D1-7F09-E450-4CBE-48CC531A70AB}"/>
              </a:ext>
            </a:extLst>
          </p:cNvPr>
          <p:cNvSpPr txBox="1"/>
          <p:nvPr/>
        </p:nvSpPr>
        <p:spPr>
          <a:xfrm>
            <a:off x="8417522" y="4178862"/>
            <a:ext cx="958930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D" sz="5400" dirty="0">
                <a:solidFill>
                  <a:schemeClr val="bg1"/>
                </a:solidFill>
                <a:effectLst/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06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0B5E96D-DC42-42D3-85A0-5176A852F304}"/>
              </a:ext>
            </a:extLst>
          </p:cNvPr>
          <p:cNvSpPr txBox="1"/>
          <p:nvPr/>
        </p:nvSpPr>
        <p:spPr>
          <a:xfrm rot="10800000" flipV="1">
            <a:off x="4592139" y="5162259"/>
            <a:ext cx="958931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D" sz="5400" dirty="0">
                <a:solidFill>
                  <a:schemeClr val="bg1"/>
                </a:solidFill>
                <a:effectLst/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07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51271BB-B125-422E-B335-D0DA157BAFB1}"/>
              </a:ext>
            </a:extLst>
          </p:cNvPr>
          <p:cNvSpPr txBox="1"/>
          <p:nvPr/>
        </p:nvSpPr>
        <p:spPr>
          <a:xfrm rot="10800000" flipV="1">
            <a:off x="5594755" y="5256316"/>
            <a:ext cx="34885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2400"/>
              <a:t>Conclusions</a:t>
            </a:r>
            <a:endParaRPr lang="en-US" sz="24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52A1361-C741-4A6B-8693-C05330392C36}"/>
              </a:ext>
            </a:extLst>
          </p:cNvPr>
          <p:cNvSpPr txBox="1"/>
          <p:nvPr/>
        </p:nvSpPr>
        <p:spPr>
          <a:xfrm rot="10800000" flipV="1">
            <a:off x="8417522" y="5314659"/>
            <a:ext cx="709438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D" sz="5400" dirty="0">
                <a:solidFill>
                  <a:schemeClr val="bg1"/>
                </a:solidFill>
                <a:effectLst/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08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8B028F5-307F-4268-AA07-9C5F27D163BF}"/>
              </a:ext>
            </a:extLst>
          </p:cNvPr>
          <p:cNvSpPr txBox="1"/>
          <p:nvPr/>
        </p:nvSpPr>
        <p:spPr>
          <a:xfrm>
            <a:off x="9364049" y="5559463"/>
            <a:ext cx="2465557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400"/>
              <a:t>References</a:t>
            </a:r>
            <a:endParaRPr lang="en-US" sz="24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3407D4B-A8B3-46AF-85F9-2AE2468CFCBC}"/>
              </a:ext>
            </a:extLst>
          </p:cNvPr>
          <p:cNvSpPr txBox="1"/>
          <p:nvPr/>
        </p:nvSpPr>
        <p:spPr>
          <a:xfrm flipH="1">
            <a:off x="9376452" y="4178862"/>
            <a:ext cx="20392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Results and Discussions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1318BE8-1A76-40BD-850F-F4D28AF01B5E}"/>
              </a:ext>
            </a:extLst>
          </p:cNvPr>
          <p:cNvSpPr txBox="1"/>
          <p:nvPr/>
        </p:nvSpPr>
        <p:spPr>
          <a:xfrm>
            <a:off x="5681999" y="4451537"/>
            <a:ext cx="2404725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lvl="0"/>
            <a:r>
              <a:rPr lang="en-US" sz="2400" dirty="0"/>
              <a:t>Methodology</a:t>
            </a:r>
          </a:p>
        </p:txBody>
      </p:sp>
    </p:spTree>
    <p:extLst>
      <p:ext uri="{BB962C8B-B14F-4D97-AF65-F5344CB8AC3E}">
        <p14:creationId xmlns:p14="http://schemas.microsoft.com/office/powerpoint/2010/main" val="22633529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7">
            <a:extLst>
              <a:ext uri="{FF2B5EF4-FFF2-40B4-BE49-F238E27FC236}">
                <a16:creationId xmlns:a16="http://schemas.microsoft.com/office/drawing/2014/main" id="{8DAF0C98-CE0D-B942-95CA-965CFB20018E}"/>
              </a:ext>
            </a:extLst>
          </p:cNvPr>
          <p:cNvSpPr txBox="1"/>
          <p:nvPr/>
        </p:nvSpPr>
        <p:spPr>
          <a:xfrm>
            <a:off x="533190" y="1192050"/>
            <a:ext cx="5562810" cy="18466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0" dirty="0">
                <a:cs typeface="Poppins" pitchFamily="2" charset="77"/>
              </a:rPr>
              <a:t>Abstract</a:t>
            </a:r>
            <a:br>
              <a:rPr lang="en-US" sz="8000" dirty="0"/>
            </a:br>
            <a:endParaRPr lang="en-US" sz="6000" dirty="0">
              <a:latin typeface="Glacial Indifference" pitchFamily="2" charset="0"/>
              <a:ea typeface="Jost" pitchFamily="2" charset="0"/>
              <a:cs typeface="Poppins" pitchFamily="2" charset="77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82347A-521B-064E-8F1C-5D7310253755}"/>
              </a:ext>
            </a:extLst>
          </p:cNvPr>
          <p:cNvSpPr/>
          <p:nvPr/>
        </p:nvSpPr>
        <p:spPr>
          <a:xfrm>
            <a:off x="533190" y="2313963"/>
            <a:ext cx="10831496" cy="430887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buNone/>
            </a:pPr>
            <a:r>
              <a:rPr lang="en-US" sz="2000" dirty="0"/>
              <a:t>Smart homes generate large volumes of time-stamped energy consumption data from sensors and appliances. This project uses </a:t>
            </a:r>
            <a:r>
              <a:rPr lang="en-US" sz="2000" b="1" dirty="0" err="1"/>
              <a:t>PySpark</a:t>
            </a:r>
            <a:r>
              <a:rPr lang="en-US" sz="2000" dirty="0"/>
              <a:t> to process, clean, and analyze big smart-home datasets and to build predictive models for household energy consumption.</a:t>
            </a:r>
          </a:p>
          <a:p>
            <a:pPr>
              <a:buNone/>
            </a:pPr>
            <a:endParaRPr lang="en-US" sz="4000" dirty="0"/>
          </a:p>
          <a:p>
            <a:pPr>
              <a:buNone/>
            </a:pPr>
            <a:r>
              <a:rPr lang="en-US" sz="2000" dirty="0"/>
              <a:t>Key contributions include: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Large-scale data preprocessing and feature engineering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Hourly, monthly, and seasonal energy consumption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Regression models (Linear Regression &amp; Random Forest) for forecasting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Visual analytics including time-series plots, scatter plots, and correlation maps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Evaluation using RMSE, MAE, and R² metrics</a:t>
            </a:r>
          </a:p>
          <a:p>
            <a:endParaRPr lang="en-US" sz="2000" dirty="0"/>
          </a:p>
          <a:p>
            <a:pPr>
              <a:buNone/>
            </a:pPr>
            <a:r>
              <a:rPr lang="en-US" sz="2000" dirty="0"/>
              <a:t>Random Forest outperformed Linear Regression, showing the importance of non-linear modeling for complex IoT energy data.</a:t>
            </a:r>
          </a:p>
        </p:txBody>
      </p:sp>
    </p:spTree>
    <p:extLst>
      <p:ext uri="{BB962C8B-B14F-4D97-AF65-F5344CB8AC3E}">
        <p14:creationId xmlns:p14="http://schemas.microsoft.com/office/powerpoint/2010/main" val="2161298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7">
            <a:extLst>
              <a:ext uri="{FF2B5EF4-FFF2-40B4-BE49-F238E27FC236}">
                <a16:creationId xmlns:a16="http://schemas.microsoft.com/office/drawing/2014/main" id="{8DAF0C98-CE0D-B942-95CA-965CFB20018E}"/>
              </a:ext>
            </a:extLst>
          </p:cNvPr>
          <p:cNvSpPr txBox="1"/>
          <p:nvPr/>
        </p:nvSpPr>
        <p:spPr>
          <a:xfrm>
            <a:off x="533190" y="1192050"/>
            <a:ext cx="5562810" cy="307776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0" dirty="0">
                <a:cs typeface="Poppins" pitchFamily="2" charset="77"/>
              </a:rPr>
              <a:t>Introduction</a:t>
            </a:r>
            <a:br>
              <a:rPr lang="en-US" sz="9600" dirty="0"/>
            </a:br>
            <a:br>
              <a:rPr lang="en-US" sz="8000" dirty="0"/>
            </a:br>
            <a:endParaRPr lang="en-US" sz="6000" dirty="0">
              <a:latin typeface="Glacial Indifference" pitchFamily="2" charset="0"/>
              <a:ea typeface="Jost" pitchFamily="2" charset="0"/>
              <a:cs typeface="Poppins" pitchFamily="2" charset="77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82347A-521B-064E-8F1C-5D7310253755}"/>
              </a:ext>
            </a:extLst>
          </p:cNvPr>
          <p:cNvSpPr/>
          <p:nvPr/>
        </p:nvSpPr>
        <p:spPr>
          <a:xfrm>
            <a:off x="533189" y="2133600"/>
            <a:ext cx="5056727" cy="360098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buNone/>
            </a:pPr>
            <a:r>
              <a:rPr lang="en-US" dirty="0"/>
              <a:t>Smart homes use sensors and smart meters to capture continuous data about household electricity usage. These large datasets require big-data tools like </a:t>
            </a:r>
            <a:r>
              <a:rPr lang="en-US" b="1" dirty="0" err="1"/>
              <a:t>PySpark</a:t>
            </a:r>
            <a:r>
              <a:rPr lang="en-US" dirty="0"/>
              <a:t> for efficient processing. Analyzing such data provides insights into: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High-consumption appliances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Peak usage hours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Seasonal influence on consumption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Environmental dependencies such as temperature</a:t>
            </a:r>
          </a:p>
          <a:p>
            <a:endParaRPr lang="en-US" dirty="0"/>
          </a:p>
          <a:p>
            <a:pPr>
              <a:buNone/>
            </a:pPr>
            <a:r>
              <a:rPr lang="en-US" dirty="0"/>
              <a:t>This project builds a full analytics pipeline to uncover patterns and develop predictive models aiding efficient energy distribution and conservation.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6D77697-57BB-6549-BA5F-8F8224998F64}"/>
              </a:ext>
            </a:extLst>
          </p:cNvPr>
          <p:cNvSpPr/>
          <p:nvPr/>
        </p:nvSpPr>
        <p:spPr>
          <a:xfrm>
            <a:off x="524701" y="4820418"/>
            <a:ext cx="1817457" cy="2308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ID" sz="1500" dirty="0">
                <a:solidFill>
                  <a:schemeClr val="bg1"/>
                </a:solidFill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Highlight Button</a:t>
            </a:r>
            <a:endParaRPr lang="en-US" sz="1500" dirty="0">
              <a:solidFill>
                <a:schemeClr val="bg1"/>
              </a:solidFill>
              <a:latin typeface="Glacial Indifference" pitchFamily="2" charset="0"/>
              <a:ea typeface="Roboto" panose="02000000000000000000" pitchFamily="2" charset="0"/>
              <a:cs typeface="Poppins" pitchFamily="2" charset="77"/>
            </a:endParaRPr>
          </a:p>
        </p:txBody>
      </p:sp>
      <p:pic>
        <p:nvPicPr>
          <p:cNvPr id="2" name="Picture Placeholder 1">
            <a:extLst>
              <a:ext uri="{FF2B5EF4-FFF2-40B4-BE49-F238E27FC236}">
                <a16:creationId xmlns:a16="http://schemas.microsoft.com/office/drawing/2014/main" id="{3DB7F339-8670-208F-8F71-2EC17C0CE05F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16403" r="16403"/>
          <a:stretch>
            <a:fillRect/>
          </a:stretch>
        </p:blipFill>
        <p:spPr>
          <a:xfrm>
            <a:off x="6424613" y="1192213"/>
            <a:ext cx="5251450" cy="521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4966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>
            <a:extLst>
              <a:ext uri="{FF2B5EF4-FFF2-40B4-BE49-F238E27FC236}">
                <a16:creationId xmlns:a16="http://schemas.microsoft.com/office/drawing/2014/main" id="{CFED0ED9-EF2C-2D45-BFD5-146BBD13C2D2}"/>
              </a:ext>
            </a:extLst>
          </p:cNvPr>
          <p:cNvSpPr txBox="1"/>
          <p:nvPr/>
        </p:nvSpPr>
        <p:spPr>
          <a:xfrm>
            <a:off x="533341" y="1005073"/>
            <a:ext cx="7138120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0" dirty="0">
                <a:latin typeface="Glacial Indifference" pitchFamily="2" charset="0"/>
                <a:ea typeface="Jost" pitchFamily="2" charset="0"/>
                <a:cs typeface="Poppins" pitchFamily="2" charset="77"/>
              </a:rPr>
              <a:t>Objectives</a:t>
            </a:r>
          </a:p>
        </p:txBody>
      </p:sp>
      <p:sp>
        <p:nvSpPr>
          <p:cNvPr id="6" name="Round Same Side Corner Rectangle 8">
            <a:extLst>
              <a:ext uri="{FF2B5EF4-FFF2-40B4-BE49-F238E27FC236}">
                <a16:creationId xmlns:a16="http://schemas.microsoft.com/office/drawing/2014/main" id="{0CA99317-D078-BB37-A377-96B22577B6BA}"/>
              </a:ext>
            </a:extLst>
          </p:cNvPr>
          <p:cNvSpPr/>
          <p:nvPr/>
        </p:nvSpPr>
        <p:spPr>
          <a:xfrm>
            <a:off x="556422" y="2082875"/>
            <a:ext cx="3293765" cy="1624068"/>
          </a:xfrm>
          <a:prstGeom prst="round2SameRect">
            <a:avLst>
              <a:gd name="adj1" fmla="val 8420"/>
              <a:gd name="adj2" fmla="val 0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latin typeface="Glacial Indifference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5029080-1D0D-B850-7976-CFFB8D43D61F}"/>
              </a:ext>
            </a:extLst>
          </p:cNvPr>
          <p:cNvSpPr txBox="1"/>
          <p:nvPr/>
        </p:nvSpPr>
        <p:spPr>
          <a:xfrm>
            <a:off x="905636" y="2925382"/>
            <a:ext cx="819397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>
                <a:latin typeface="Glacial Indifference" pitchFamily="2" charset="0"/>
                <a:ea typeface="Jost" pitchFamily="2" charset="0"/>
                <a:cs typeface="Poppins" pitchFamily="2" charset="77"/>
              </a:rPr>
              <a:t>01</a:t>
            </a:r>
            <a:endParaRPr lang="en-US" sz="3200" dirty="0">
              <a:latin typeface="Glacial Indifference" pitchFamily="2" charset="0"/>
              <a:ea typeface="Jost" pitchFamily="2" charset="0"/>
              <a:cs typeface="Poppins" pitchFamily="2" charset="7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63BD29-0407-AD7E-665A-17B399679750}"/>
              </a:ext>
            </a:extLst>
          </p:cNvPr>
          <p:cNvSpPr txBox="1"/>
          <p:nvPr/>
        </p:nvSpPr>
        <p:spPr>
          <a:xfrm>
            <a:off x="1558690" y="2700609"/>
            <a:ext cx="2079897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latin typeface="Glacial Indifference" pitchFamily="2" charset="0"/>
                <a:ea typeface="Jost" pitchFamily="2" charset="0"/>
                <a:cs typeface="Poppins" pitchFamily="2" charset="77"/>
              </a:rPr>
              <a:t>Build a robust </a:t>
            </a:r>
            <a:r>
              <a:rPr lang="en-US" sz="1600" dirty="0" err="1">
                <a:latin typeface="Glacial Indifference" pitchFamily="2" charset="0"/>
                <a:ea typeface="Jost" pitchFamily="2" charset="0"/>
                <a:cs typeface="Poppins" pitchFamily="2" charset="77"/>
              </a:rPr>
              <a:t>PySpark</a:t>
            </a:r>
            <a:r>
              <a:rPr lang="en-US" sz="1600" dirty="0">
                <a:latin typeface="Glacial Indifference" pitchFamily="2" charset="0"/>
                <a:ea typeface="Jost" pitchFamily="2" charset="0"/>
                <a:cs typeface="Poppins" pitchFamily="2" charset="77"/>
              </a:rPr>
              <a:t> pipeline for data </a:t>
            </a:r>
            <a:r>
              <a:rPr lang="en-US" sz="1600" dirty="0" err="1">
                <a:latin typeface="Glacial Indifference" pitchFamily="2" charset="0"/>
                <a:ea typeface="Jost" pitchFamily="2" charset="0"/>
                <a:cs typeface="Poppins" pitchFamily="2" charset="77"/>
              </a:rPr>
              <a:t>loading,cleaning</a:t>
            </a:r>
            <a:r>
              <a:rPr lang="en-US" sz="1600" dirty="0">
                <a:latin typeface="Glacial Indifference" pitchFamily="2" charset="0"/>
                <a:ea typeface="Jost" pitchFamily="2" charset="0"/>
                <a:cs typeface="Poppins" pitchFamily="2" charset="77"/>
              </a:rPr>
              <a:t> etc.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E8C1FE0-1F8D-DD5A-72D0-1149A1778B4D}"/>
              </a:ext>
            </a:extLst>
          </p:cNvPr>
          <p:cNvCxnSpPr>
            <a:cxnSpLocks/>
          </p:cNvCxnSpPr>
          <p:nvPr/>
        </p:nvCxnSpPr>
        <p:spPr>
          <a:xfrm>
            <a:off x="3265134" y="3805815"/>
            <a:ext cx="199285" cy="0"/>
          </a:xfrm>
          <a:prstGeom prst="straightConnector1">
            <a:avLst/>
          </a:prstGeom>
          <a:ln w="22225">
            <a:solidFill>
              <a:schemeClr val="bg1">
                <a:lumMod val="8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ound Same Side Corner Rectangle 12">
            <a:extLst>
              <a:ext uri="{FF2B5EF4-FFF2-40B4-BE49-F238E27FC236}">
                <a16:creationId xmlns:a16="http://schemas.microsoft.com/office/drawing/2014/main" id="{D3383B72-9DE9-D972-9E1E-CAC5AF417173}"/>
              </a:ext>
            </a:extLst>
          </p:cNvPr>
          <p:cNvSpPr/>
          <p:nvPr/>
        </p:nvSpPr>
        <p:spPr>
          <a:xfrm>
            <a:off x="4291641" y="2117016"/>
            <a:ext cx="3293765" cy="1624068"/>
          </a:xfrm>
          <a:prstGeom prst="round2SameRect">
            <a:avLst>
              <a:gd name="adj1" fmla="val 8420"/>
              <a:gd name="adj2" fmla="val 0"/>
            </a:avLst>
          </a:prstGeom>
          <a:gradFill>
            <a:gsLst>
              <a:gs pos="0">
                <a:srgbClr val="ED8783">
                  <a:lumMod val="85000"/>
                  <a:lumOff val="15000"/>
                </a:srgbClr>
              </a:gs>
              <a:gs pos="100000">
                <a:srgbClr val="097F8B">
                  <a:lumMod val="98000"/>
                  <a:lumOff val="2000"/>
                </a:srgbClr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latin typeface="Glacial Indifference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6B91E86-2104-03C5-DE7D-8A93C3E8B856}"/>
              </a:ext>
            </a:extLst>
          </p:cNvPr>
          <p:cNvSpPr txBox="1"/>
          <p:nvPr/>
        </p:nvSpPr>
        <p:spPr>
          <a:xfrm>
            <a:off x="4569942" y="2925382"/>
            <a:ext cx="819397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>
                <a:solidFill>
                  <a:schemeClr val="bg1"/>
                </a:solidFill>
                <a:latin typeface="Glacial Indifference" pitchFamily="2" charset="0"/>
                <a:ea typeface="Jost" pitchFamily="2" charset="0"/>
                <a:cs typeface="Poppins" pitchFamily="2" charset="77"/>
              </a:rPr>
              <a:t>02</a:t>
            </a:r>
            <a:endParaRPr lang="en-US" sz="3200" dirty="0">
              <a:solidFill>
                <a:schemeClr val="bg1"/>
              </a:solidFill>
              <a:latin typeface="Glacial Indifference" pitchFamily="2" charset="0"/>
              <a:ea typeface="Jost" pitchFamily="2" charset="0"/>
              <a:cs typeface="Poppins" pitchFamily="2" charset="77"/>
            </a:endParaRPr>
          </a:p>
        </p:txBody>
      </p:sp>
      <p:sp>
        <p:nvSpPr>
          <p:cNvPr id="24" name="TextBox 7">
            <a:extLst>
              <a:ext uri="{FF2B5EF4-FFF2-40B4-BE49-F238E27FC236}">
                <a16:creationId xmlns:a16="http://schemas.microsoft.com/office/drawing/2014/main" id="{03769A18-BD34-357F-0104-5E31197AE6B6}"/>
              </a:ext>
            </a:extLst>
          </p:cNvPr>
          <p:cNvSpPr txBox="1"/>
          <p:nvPr/>
        </p:nvSpPr>
        <p:spPr>
          <a:xfrm>
            <a:off x="5303284" y="2700609"/>
            <a:ext cx="2465540" cy="73866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chemeClr val="bg1"/>
                </a:solidFill>
                <a:latin typeface="Glacial Indifference" pitchFamily="2" charset="0"/>
                <a:ea typeface="Jost" pitchFamily="2" charset="0"/>
                <a:cs typeface="Poppins" pitchFamily="2" charset="77"/>
              </a:rPr>
              <a:t>Engineer time based and environmental features for analysis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34FBA94-4404-8811-5147-5B3D3FC1D466}"/>
              </a:ext>
            </a:extLst>
          </p:cNvPr>
          <p:cNvCxnSpPr>
            <a:cxnSpLocks/>
          </p:cNvCxnSpPr>
          <p:nvPr/>
        </p:nvCxnSpPr>
        <p:spPr>
          <a:xfrm>
            <a:off x="7025450" y="3805815"/>
            <a:ext cx="199285" cy="0"/>
          </a:xfrm>
          <a:prstGeom prst="straightConnector1">
            <a:avLst/>
          </a:prstGeom>
          <a:ln w="22225">
            <a:solidFill>
              <a:schemeClr val="bg1">
                <a:lumMod val="8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Blue icons on a white background&#10;&#10;AI-generated content may be incorrect.">
            <a:extLst>
              <a:ext uri="{FF2B5EF4-FFF2-40B4-BE49-F238E27FC236}">
                <a16:creationId xmlns:a16="http://schemas.microsoft.com/office/drawing/2014/main" id="{361A7311-8BDC-C835-FFF2-BC023DA5C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5406" y="2449309"/>
            <a:ext cx="4401164" cy="3115110"/>
          </a:xfrm>
          <a:prstGeom prst="rect">
            <a:avLst/>
          </a:prstGeom>
        </p:spPr>
      </p:pic>
      <p:sp>
        <p:nvSpPr>
          <p:cNvPr id="13" name="Round Same Side Corner Rectangle 8">
            <a:extLst>
              <a:ext uri="{FF2B5EF4-FFF2-40B4-BE49-F238E27FC236}">
                <a16:creationId xmlns:a16="http://schemas.microsoft.com/office/drawing/2014/main" id="{34519F3E-92F6-9F10-C2FA-45DD7703F784}"/>
              </a:ext>
            </a:extLst>
          </p:cNvPr>
          <p:cNvSpPr/>
          <p:nvPr/>
        </p:nvSpPr>
        <p:spPr>
          <a:xfrm>
            <a:off x="556422" y="4071596"/>
            <a:ext cx="3293765" cy="1624068"/>
          </a:xfrm>
          <a:prstGeom prst="round2SameRect">
            <a:avLst>
              <a:gd name="adj1" fmla="val 8420"/>
              <a:gd name="adj2" fmla="val 0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latin typeface="Glacial Indifference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9198F9B-816C-5593-6D43-F706A540BF40}"/>
              </a:ext>
            </a:extLst>
          </p:cNvPr>
          <p:cNvSpPr txBox="1"/>
          <p:nvPr/>
        </p:nvSpPr>
        <p:spPr>
          <a:xfrm>
            <a:off x="905636" y="4914103"/>
            <a:ext cx="819397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>
                <a:latin typeface="Glacial Indifference" pitchFamily="2" charset="0"/>
                <a:ea typeface="Jost" pitchFamily="2" charset="0"/>
                <a:cs typeface="Poppins" pitchFamily="2" charset="77"/>
              </a:rPr>
              <a:t>03</a:t>
            </a:r>
            <a:endParaRPr lang="en-US" sz="3200" dirty="0">
              <a:latin typeface="Glacial Indifference" pitchFamily="2" charset="0"/>
              <a:ea typeface="Jost" pitchFamily="2" charset="0"/>
              <a:cs typeface="Poppins" pitchFamily="2" charset="7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9149E93-C1AF-E338-E049-EA24FD9941A8}"/>
              </a:ext>
            </a:extLst>
          </p:cNvPr>
          <p:cNvSpPr txBox="1"/>
          <p:nvPr/>
        </p:nvSpPr>
        <p:spPr>
          <a:xfrm>
            <a:off x="1628936" y="4914103"/>
            <a:ext cx="2079897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latin typeface="Glacial Indifference" pitchFamily="2" charset="0"/>
                <a:ea typeface="Jost" pitchFamily="2" charset="0"/>
                <a:cs typeface="Poppins" pitchFamily="2" charset="77"/>
              </a:rPr>
              <a:t>Train and evaluate </a:t>
            </a:r>
            <a:r>
              <a:rPr lang="en-US" sz="1600" dirty="0">
                <a:ea typeface="Jost" pitchFamily="2" charset="0"/>
                <a:cs typeface="Poppins" pitchFamily="2" charset="77"/>
              </a:rPr>
              <a:t>prediction</a:t>
            </a:r>
            <a:r>
              <a:rPr lang="en-US" sz="1600" dirty="0">
                <a:latin typeface="Glacial Indifference" pitchFamily="2" charset="0"/>
                <a:ea typeface="Jost" pitchFamily="2" charset="0"/>
                <a:cs typeface="Poppins" pitchFamily="2" charset="77"/>
              </a:rPr>
              <a:t> models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F30CFA2-246A-83DE-A86C-DFE3228DC34E}"/>
              </a:ext>
            </a:extLst>
          </p:cNvPr>
          <p:cNvCxnSpPr>
            <a:cxnSpLocks/>
          </p:cNvCxnSpPr>
          <p:nvPr/>
        </p:nvCxnSpPr>
        <p:spPr>
          <a:xfrm>
            <a:off x="3265134" y="5794536"/>
            <a:ext cx="199285" cy="0"/>
          </a:xfrm>
          <a:prstGeom prst="straightConnector1">
            <a:avLst/>
          </a:prstGeom>
          <a:ln w="22225">
            <a:solidFill>
              <a:schemeClr val="bg1">
                <a:lumMod val="8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ound Same Side Corner Rectangle 12">
            <a:extLst>
              <a:ext uri="{FF2B5EF4-FFF2-40B4-BE49-F238E27FC236}">
                <a16:creationId xmlns:a16="http://schemas.microsoft.com/office/drawing/2014/main" id="{29CC037D-2F74-9509-FE9C-68A3228544C3}"/>
              </a:ext>
            </a:extLst>
          </p:cNvPr>
          <p:cNvSpPr/>
          <p:nvPr/>
        </p:nvSpPr>
        <p:spPr>
          <a:xfrm>
            <a:off x="4291641" y="4071596"/>
            <a:ext cx="3293765" cy="1624068"/>
          </a:xfrm>
          <a:prstGeom prst="round2SameRect">
            <a:avLst>
              <a:gd name="adj1" fmla="val 8420"/>
              <a:gd name="adj2" fmla="val 0"/>
            </a:avLst>
          </a:prstGeom>
          <a:gradFill>
            <a:gsLst>
              <a:gs pos="0">
                <a:srgbClr val="ED8783">
                  <a:lumMod val="85000"/>
                  <a:lumOff val="15000"/>
                </a:srgbClr>
              </a:gs>
              <a:gs pos="100000">
                <a:srgbClr val="097F8B">
                  <a:lumMod val="98000"/>
                  <a:lumOff val="2000"/>
                </a:srgbClr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latin typeface="Glacial Indifference" pitchFamily="2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004D67-C4D2-AF4E-F955-45D2240267D3}"/>
              </a:ext>
            </a:extLst>
          </p:cNvPr>
          <p:cNvSpPr txBox="1"/>
          <p:nvPr/>
        </p:nvSpPr>
        <p:spPr>
          <a:xfrm>
            <a:off x="4569942" y="4879962"/>
            <a:ext cx="819397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>
                <a:solidFill>
                  <a:schemeClr val="bg1"/>
                </a:solidFill>
                <a:latin typeface="Glacial Indifference" pitchFamily="2" charset="0"/>
                <a:ea typeface="Jost" pitchFamily="2" charset="0"/>
                <a:cs typeface="Poppins" pitchFamily="2" charset="77"/>
              </a:rPr>
              <a:t>04</a:t>
            </a:r>
            <a:endParaRPr lang="en-US" sz="3200" dirty="0">
              <a:solidFill>
                <a:schemeClr val="bg1"/>
              </a:solidFill>
              <a:latin typeface="Glacial Indifference" pitchFamily="2" charset="0"/>
              <a:ea typeface="Jost" pitchFamily="2" charset="0"/>
              <a:cs typeface="Poppins" pitchFamily="2" charset="77"/>
            </a:endParaRPr>
          </a:p>
        </p:txBody>
      </p:sp>
      <p:sp>
        <p:nvSpPr>
          <p:cNvPr id="28" name="TextBox 7">
            <a:extLst>
              <a:ext uri="{FF2B5EF4-FFF2-40B4-BE49-F238E27FC236}">
                <a16:creationId xmlns:a16="http://schemas.microsoft.com/office/drawing/2014/main" id="{AB66A832-BF2C-5D5E-6E25-89B3A154B108}"/>
              </a:ext>
            </a:extLst>
          </p:cNvPr>
          <p:cNvSpPr txBox="1"/>
          <p:nvPr/>
        </p:nvSpPr>
        <p:spPr>
          <a:xfrm>
            <a:off x="5303284" y="4871581"/>
            <a:ext cx="2465540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solidFill>
                  <a:schemeClr val="bg1"/>
                </a:solidFill>
                <a:latin typeface="Glacial Indifference" pitchFamily="2" charset="0"/>
                <a:ea typeface="Jost" pitchFamily="2" charset="0"/>
                <a:cs typeface="Poppins" pitchFamily="2" charset="77"/>
              </a:rPr>
              <a:t>Generate visualizations for actionable insights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51DD2D8A-0F98-21E2-2C5A-D54EB195BD35}"/>
              </a:ext>
            </a:extLst>
          </p:cNvPr>
          <p:cNvCxnSpPr>
            <a:cxnSpLocks/>
          </p:cNvCxnSpPr>
          <p:nvPr/>
        </p:nvCxnSpPr>
        <p:spPr>
          <a:xfrm>
            <a:off x="7025450" y="5760395"/>
            <a:ext cx="199285" cy="0"/>
          </a:xfrm>
          <a:prstGeom prst="straightConnector1">
            <a:avLst/>
          </a:prstGeom>
          <a:ln w="22225">
            <a:solidFill>
              <a:schemeClr val="bg1">
                <a:lumMod val="8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275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0F0610C-6F4A-F147-A91D-71B1B8A34446}"/>
              </a:ext>
            </a:extLst>
          </p:cNvPr>
          <p:cNvSpPr txBox="1"/>
          <p:nvPr/>
        </p:nvSpPr>
        <p:spPr>
          <a:xfrm>
            <a:off x="532562" y="871667"/>
            <a:ext cx="10276951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6000" dirty="0">
                <a:latin typeface="Glacial Indifference" pitchFamily="2" charset="0"/>
                <a:ea typeface="Open Sans SemiBold" pitchFamily="2" charset="0"/>
                <a:cs typeface="Poppins" pitchFamily="2" charset="77"/>
              </a:rPr>
              <a:t>Literature Review</a:t>
            </a:r>
            <a:endParaRPr lang="en-ID" sz="6000" dirty="0">
              <a:latin typeface="Glacial Indifference" pitchFamily="2" charset="0"/>
              <a:ea typeface="Open Sans SemiBold" pitchFamily="2" charset="0"/>
              <a:cs typeface="Poppins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494E2BF-BA3E-5D4D-9A72-9C94AA05BC68}"/>
              </a:ext>
            </a:extLst>
          </p:cNvPr>
          <p:cNvSpPr txBox="1"/>
          <p:nvPr/>
        </p:nvSpPr>
        <p:spPr>
          <a:xfrm>
            <a:off x="606929" y="2459042"/>
            <a:ext cx="2310837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dirty="0">
                <a:latin typeface="Glacial Indifference" pitchFamily="2" charset="0"/>
              </a:rPr>
              <a:t>Big Data in Energy Analytics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3139E07-6E7D-C240-B9DE-1482A08E5048}"/>
              </a:ext>
            </a:extLst>
          </p:cNvPr>
          <p:cNvSpPr/>
          <p:nvPr/>
        </p:nvSpPr>
        <p:spPr>
          <a:xfrm>
            <a:off x="605755" y="1941456"/>
            <a:ext cx="194536" cy="194536"/>
          </a:xfrm>
          <a:prstGeom prst="roundRect">
            <a:avLst/>
          </a:prstGeom>
          <a:gradFill>
            <a:gsLst>
              <a:gs pos="0">
                <a:srgbClr val="ED8783">
                  <a:lumMod val="85000"/>
                  <a:lumOff val="15000"/>
                </a:srgbClr>
              </a:gs>
              <a:gs pos="100000">
                <a:srgbClr val="097F8B">
                  <a:lumMod val="98000"/>
                  <a:lumOff val="2000"/>
                </a:srgbClr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Glacial Indifference" pitchFamily="2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28009C-DB2D-D242-98C3-00559AAE6666}"/>
              </a:ext>
            </a:extLst>
          </p:cNvPr>
          <p:cNvSpPr txBox="1"/>
          <p:nvPr/>
        </p:nvSpPr>
        <p:spPr>
          <a:xfrm>
            <a:off x="3785162" y="2459042"/>
            <a:ext cx="2158437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dirty="0">
                <a:latin typeface="Glacial Indifference" pitchFamily="2" charset="0"/>
              </a:rPr>
              <a:t>Energy Forecasting Models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152EF0C-CE5C-9A46-8660-E3E601529C2D}"/>
              </a:ext>
            </a:extLst>
          </p:cNvPr>
          <p:cNvSpPr/>
          <p:nvPr/>
        </p:nvSpPr>
        <p:spPr>
          <a:xfrm>
            <a:off x="3783988" y="1941456"/>
            <a:ext cx="194536" cy="194536"/>
          </a:xfrm>
          <a:prstGeom prst="roundRect">
            <a:avLst/>
          </a:prstGeom>
          <a:gradFill>
            <a:gsLst>
              <a:gs pos="0">
                <a:srgbClr val="ED8783">
                  <a:lumMod val="85000"/>
                  <a:lumOff val="15000"/>
                </a:srgbClr>
              </a:gs>
              <a:gs pos="100000">
                <a:srgbClr val="097F8B">
                  <a:lumMod val="98000"/>
                  <a:lumOff val="2000"/>
                </a:srgbClr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Glacial Indifference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EDC844-48EC-BF49-8F8F-FE7D39E86B30}"/>
              </a:ext>
            </a:extLst>
          </p:cNvPr>
          <p:cNvSpPr/>
          <p:nvPr/>
        </p:nvSpPr>
        <p:spPr>
          <a:xfrm>
            <a:off x="605755" y="3089869"/>
            <a:ext cx="2312012" cy="80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en-ID" sz="1200" dirty="0">
                <a:latin typeface="Glacial Indifference" pitchFamily="2" charset="0"/>
                <a:ea typeface="Roboto Condensed" panose="02000000000000000000" pitchFamily="2" charset="0"/>
                <a:cs typeface="Poppins" panose="00000500000000000000" pitchFamily="2" charset="0"/>
              </a:rPr>
              <a:t>Spark &amp; Hadoop are widely used for processing large sensor datasets due to scalability and  computation.</a:t>
            </a:r>
            <a:endParaRPr lang="en-ID" sz="1200" dirty="0">
              <a:latin typeface="Glacial Indifference" pitchFamily="2" charset="0"/>
              <a:ea typeface="Inter" panose="020B0502030000000004" pitchFamily="34" charset="0"/>
              <a:cs typeface="Poppins" panose="00000500000000000000" pitchFamily="2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3E9B9B5-1C66-734E-9338-63647C649E0E}"/>
              </a:ext>
            </a:extLst>
          </p:cNvPr>
          <p:cNvSpPr/>
          <p:nvPr/>
        </p:nvSpPr>
        <p:spPr>
          <a:xfrm>
            <a:off x="3783988" y="3089868"/>
            <a:ext cx="2796426" cy="80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en-ID" sz="1200" dirty="0">
                <a:latin typeface="Glacial Indifference" pitchFamily="2" charset="0"/>
                <a:ea typeface="Roboto Condensed" panose="02000000000000000000" pitchFamily="2" charset="0"/>
                <a:cs typeface="Poppins" panose="00000500000000000000" pitchFamily="2" charset="0"/>
              </a:rPr>
              <a:t>Tree-based models like Linear Regression, Random Forest etc perform best for non linear electricity patterns.</a:t>
            </a:r>
            <a:endParaRPr lang="en-ID" sz="1200" dirty="0">
              <a:latin typeface="Glacial Indifference" pitchFamily="2" charset="0"/>
              <a:ea typeface="Inter" panose="020B0502030000000004" pitchFamily="34" charset="0"/>
              <a:cs typeface="Poppins" panose="000005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5DDC38-CB17-154F-AF66-46B9EF8FFE7F}"/>
              </a:ext>
            </a:extLst>
          </p:cNvPr>
          <p:cNvSpPr txBox="1"/>
          <p:nvPr/>
        </p:nvSpPr>
        <p:spPr>
          <a:xfrm>
            <a:off x="606929" y="4612339"/>
            <a:ext cx="2168927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dirty="0">
                <a:latin typeface="Glacial Indifference" pitchFamily="2" charset="0"/>
              </a:rPr>
              <a:t>Feature Engineering for Energy Data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4A0A2ECA-7212-2440-9711-BF51C0AC9CC2}"/>
              </a:ext>
            </a:extLst>
          </p:cNvPr>
          <p:cNvSpPr/>
          <p:nvPr/>
        </p:nvSpPr>
        <p:spPr>
          <a:xfrm>
            <a:off x="605755" y="4094753"/>
            <a:ext cx="194536" cy="194536"/>
          </a:xfrm>
          <a:prstGeom prst="roundRect">
            <a:avLst/>
          </a:prstGeom>
          <a:gradFill>
            <a:gsLst>
              <a:gs pos="0">
                <a:srgbClr val="ED8783">
                  <a:lumMod val="85000"/>
                  <a:lumOff val="15000"/>
                </a:srgbClr>
              </a:gs>
              <a:gs pos="100000">
                <a:srgbClr val="097F8B">
                  <a:lumMod val="98000"/>
                  <a:lumOff val="2000"/>
                </a:srgbClr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Glacial Indifference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A6AE1D-FA39-0E42-A186-AAD18F2AF027}"/>
              </a:ext>
            </a:extLst>
          </p:cNvPr>
          <p:cNvSpPr/>
          <p:nvPr/>
        </p:nvSpPr>
        <p:spPr>
          <a:xfrm>
            <a:off x="605755" y="5243165"/>
            <a:ext cx="2312012" cy="1079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en-ID" sz="1200" dirty="0">
                <a:latin typeface="Glacial Indifference" pitchFamily="2" charset="0"/>
                <a:ea typeface="Roboto Condensed" panose="02000000000000000000" pitchFamily="2" charset="0"/>
                <a:cs typeface="Poppins" panose="00000500000000000000" pitchFamily="2" charset="0"/>
              </a:rPr>
              <a:t>Time features, temperature, humidity, and household characteristics significantly improve prediction accuracy</a:t>
            </a:r>
            <a:endParaRPr lang="en-ID" sz="1200" dirty="0">
              <a:latin typeface="Glacial Indifference" pitchFamily="2" charset="0"/>
              <a:ea typeface="Inter" panose="020B0502030000000004" pitchFamily="34" charset="0"/>
              <a:cs typeface="Poppins" panose="00000500000000000000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85DD385-C90D-E0BD-A2D6-3AA7D64C6EEB}"/>
              </a:ext>
            </a:extLst>
          </p:cNvPr>
          <p:cNvSpPr txBox="1"/>
          <p:nvPr/>
        </p:nvSpPr>
        <p:spPr>
          <a:xfrm>
            <a:off x="3785163" y="4612339"/>
            <a:ext cx="2158436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dirty="0">
                <a:latin typeface="Glacial Indifference" pitchFamily="2" charset="0"/>
              </a:rPr>
              <a:t>Real time Smart Grid Analytics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9B35308-37B3-8E42-4918-7DFB419E9D92}"/>
              </a:ext>
            </a:extLst>
          </p:cNvPr>
          <p:cNvSpPr/>
          <p:nvPr/>
        </p:nvSpPr>
        <p:spPr>
          <a:xfrm>
            <a:off x="3783988" y="4094753"/>
            <a:ext cx="194536" cy="194536"/>
          </a:xfrm>
          <a:prstGeom prst="roundRect">
            <a:avLst/>
          </a:prstGeom>
          <a:gradFill>
            <a:gsLst>
              <a:gs pos="0">
                <a:srgbClr val="ED8783">
                  <a:lumMod val="85000"/>
                  <a:lumOff val="15000"/>
                </a:srgbClr>
              </a:gs>
              <a:gs pos="100000">
                <a:srgbClr val="097F8B">
                  <a:lumMod val="98000"/>
                  <a:lumOff val="2000"/>
                </a:srgbClr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Glacial Indifference" pitchFamily="2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25CFDF2-C824-445C-AC3C-1CEC234339FA}"/>
              </a:ext>
            </a:extLst>
          </p:cNvPr>
          <p:cNvSpPr/>
          <p:nvPr/>
        </p:nvSpPr>
        <p:spPr>
          <a:xfrm>
            <a:off x="3783988" y="5243165"/>
            <a:ext cx="2312012" cy="10793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en-ID" sz="1200" dirty="0">
                <a:latin typeface="Glacial Indifference" pitchFamily="2" charset="0"/>
                <a:ea typeface="Roboto Condensed" panose="02000000000000000000" pitchFamily="2" charset="0"/>
                <a:cs typeface="Poppins" panose="00000500000000000000" pitchFamily="2" charset="0"/>
              </a:rPr>
              <a:t>Research highlights </a:t>
            </a:r>
            <a:r>
              <a:rPr lang="en-ID" sz="1200" dirty="0" err="1">
                <a:latin typeface="Glacial Indifference" pitchFamily="2" charset="0"/>
                <a:ea typeface="Roboto Condensed" panose="02000000000000000000" pitchFamily="2" charset="0"/>
                <a:cs typeface="Poppins" panose="00000500000000000000" pitchFamily="2" charset="0"/>
              </a:rPr>
              <a:t>PySpark’s</a:t>
            </a:r>
            <a:r>
              <a:rPr lang="en-ID" sz="1200" dirty="0">
                <a:latin typeface="Glacial Indifference" pitchFamily="2" charset="0"/>
                <a:ea typeface="Roboto Condensed" panose="02000000000000000000" pitchFamily="2" charset="0"/>
                <a:cs typeface="Poppins" panose="00000500000000000000" pitchFamily="2" charset="0"/>
              </a:rPr>
              <a:t> role in enabling streaming pipelines and real-time monitoring of smart homes.</a:t>
            </a:r>
            <a:endParaRPr lang="en-ID" sz="1200" dirty="0">
              <a:latin typeface="Glacial Indifference" pitchFamily="2" charset="0"/>
              <a:ea typeface="Inter" panose="020B0502030000000004" pitchFamily="34" charset="0"/>
              <a:cs typeface="Poppins" panose="00000500000000000000" pitchFamily="2" charset="0"/>
            </a:endParaRPr>
          </a:p>
        </p:txBody>
      </p:sp>
      <p:pic>
        <p:nvPicPr>
          <p:cNvPr id="17" name="Picture 16" descr="A diagram of literature review&#10;&#10;AI-generated content may be incorrect.">
            <a:extLst>
              <a:ext uri="{FF2B5EF4-FFF2-40B4-BE49-F238E27FC236}">
                <a16:creationId xmlns:a16="http://schemas.microsoft.com/office/drawing/2014/main" id="{1EA5C169-0A84-9E29-3C41-1103704E43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0414" y="1689355"/>
            <a:ext cx="5515745" cy="4810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340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ED8783">
                <a:lumMod val="85000"/>
                <a:lumOff val="15000"/>
              </a:srgbClr>
            </a:gs>
            <a:gs pos="100000">
              <a:srgbClr val="097F8B">
                <a:lumMod val="98000"/>
                <a:lumOff val="2000"/>
              </a:srgbClr>
            </a:gs>
          </a:gsLst>
          <a:path path="circle">
            <a:fillToRect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7">
            <a:extLst>
              <a:ext uri="{FF2B5EF4-FFF2-40B4-BE49-F238E27FC236}">
                <a16:creationId xmlns:a16="http://schemas.microsoft.com/office/drawing/2014/main" id="{F1C80F0A-D252-834D-823B-2A6E742A2BD0}"/>
              </a:ext>
            </a:extLst>
          </p:cNvPr>
          <p:cNvSpPr txBox="1"/>
          <p:nvPr/>
        </p:nvSpPr>
        <p:spPr>
          <a:xfrm>
            <a:off x="5445760" y="698755"/>
            <a:ext cx="5389152" cy="18466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0" dirty="0">
                <a:solidFill>
                  <a:schemeClr val="bg1"/>
                </a:solidFill>
                <a:latin typeface="Glacial Indifference" pitchFamily="2" charset="0"/>
                <a:cs typeface="Poppins" pitchFamily="2" charset="77"/>
              </a:rPr>
              <a:t>Methodology</a:t>
            </a:r>
            <a:br>
              <a:rPr lang="en-US" sz="8000" dirty="0"/>
            </a:br>
            <a:endParaRPr lang="en-US" sz="6000" dirty="0">
              <a:solidFill>
                <a:schemeClr val="bg1"/>
              </a:solidFill>
              <a:latin typeface="Glacial Indifference" pitchFamily="2" charset="0"/>
              <a:ea typeface="Jost" pitchFamily="2" charset="0"/>
              <a:cs typeface="Poppins" pitchFamily="2" charset="77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12F099-B072-2B4F-B1EF-56E4FD4552F9}"/>
              </a:ext>
            </a:extLst>
          </p:cNvPr>
          <p:cNvSpPr txBox="1"/>
          <p:nvPr/>
        </p:nvSpPr>
        <p:spPr>
          <a:xfrm>
            <a:off x="5446933" y="4463269"/>
            <a:ext cx="2537737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Glacial Indifference" pitchFamily="2" charset="0"/>
              </a:rPr>
              <a:t>Missing Value Treatment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A48ADE61-76D8-EC4F-AE42-D436C93605BE}"/>
              </a:ext>
            </a:extLst>
          </p:cNvPr>
          <p:cNvSpPr/>
          <p:nvPr/>
        </p:nvSpPr>
        <p:spPr>
          <a:xfrm>
            <a:off x="5445760" y="3945683"/>
            <a:ext cx="194536" cy="19453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Glacial Indifference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5E89472-6700-CE4C-A43C-F580F672D63B}"/>
              </a:ext>
            </a:extLst>
          </p:cNvPr>
          <p:cNvSpPr txBox="1"/>
          <p:nvPr/>
        </p:nvSpPr>
        <p:spPr>
          <a:xfrm>
            <a:off x="8625168" y="4463269"/>
            <a:ext cx="217306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Glacial Indifference" pitchFamily="2" charset="0"/>
              </a:rPr>
              <a:t>Modeling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3D5F78F-1083-E449-A928-C5F1D8D1C132}"/>
              </a:ext>
            </a:extLst>
          </p:cNvPr>
          <p:cNvSpPr/>
          <p:nvPr/>
        </p:nvSpPr>
        <p:spPr>
          <a:xfrm>
            <a:off x="8623993" y="3945683"/>
            <a:ext cx="194536" cy="19453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Glacial Indifference" pitchFamily="2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AA0D7F2-A5A4-2B48-B35C-F5093E051CB1}"/>
              </a:ext>
            </a:extLst>
          </p:cNvPr>
          <p:cNvSpPr/>
          <p:nvPr/>
        </p:nvSpPr>
        <p:spPr>
          <a:xfrm>
            <a:off x="5445760" y="5094096"/>
            <a:ext cx="2312012" cy="525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en-ID" sz="1200" dirty="0">
                <a:solidFill>
                  <a:schemeClr val="bg1"/>
                </a:solidFill>
                <a:latin typeface="Glacial Indifference" pitchFamily="2" charset="0"/>
                <a:ea typeface="Roboto Condensed" panose="02000000000000000000" pitchFamily="2" charset="0"/>
                <a:cs typeface="Poppins" panose="00000500000000000000" pitchFamily="2" charset="0"/>
              </a:rPr>
              <a:t>Numerical columns filled using median imputation</a:t>
            </a:r>
            <a:endParaRPr lang="en-ID" sz="1200" dirty="0">
              <a:solidFill>
                <a:schemeClr val="bg1"/>
              </a:solidFill>
              <a:latin typeface="Glacial Indifference" pitchFamily="2" charset="0"/>
              <a:ea typeface="Inter" panose="020B0502030000000004" pitchFamily="34" charset="0"/>
              <a:cs typeface="Poppins" panose="00000500000000000000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28C09D9-1ED0-9348-BFD4-D7AA5F874D45}"/>
              </a:ext>
            </a:extLst>
          </p:cNvPr>
          <p:cNvSpPr/>
          <p:nvPr/>
        </p:nvSpPr>
        <p:spPr>
          <a:xfrm>
            <a:off x="8623993" y="5094095"/>
            <a:ext cx="2495764" cy="80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en-ID" sz="1200" dirty="0">
                <a:solidFill>
                  <a:schemeClr val="bg1"/>
                </a:solidFill>
                <a:latin typeface="Glacial Indifference" pitchFamily="2" charset="0"/>
                <a:ea typeface="Roboto Condensed" panose="02000000000000000000" pitchFamily="2" charset="0"/>
                <a:cs typeface="Poppins" panose="00000500000000000000" pitchFamily="2" charset="0"/>
              </a:rPr>
              <a:t>Linear Regression(baseline)</a:t>
            </a:r>
          </a:p>
          <a:p>
            <a:pPr>
              <a:lnSpc>
                <a:spcPct val="150000"/>
              </a:lnSpc>
            </a:pPr>
            <a:r>
              <a:rPr lang="en-ID" sz="1200" dirty="0">
                <a:solidFill>
                  <a:schemeClr val="bg1"/>
                </a:solidFill>
                <a:latin typeface="Glacial Indifference" pitchFamily="2" charset="0"/>
                <a:ea typeface="Roboto Condensed" panose="02000000000000000000" pitchFamily="2" charset="0"/>
                <a:cs typeface="Poppins" panose="00000500000000000000" pitchFamily="2" charset="0"/>
              </a:rPr>
              <a:t>Random Forest(100 trees, max depth 8)</a:t>
            </a:r>
          </a:p>
          <a:p>
            <a:pPr>
              <a:lnSpc>
                <a:spcPct val="150000"/>
              </a:lnSpc>
            </a:pPr>
            <a:r>
              <a:rPr lang="en-ID" sz="1200" dirty="0">
                <a:solidFill>
                  <a:schemeClr val="bg1"/>
                </a:solidFill>
                <a:latin typeface="Glacial Indifference" pitchFamily="2" charset="0"/>
                <a:ea typeface="Roboto Condensed" panose="02000000000000000000" pitchFamily="2" charset="0"/>
                <a:cs typeface="Poppins" panose="00000500000000000000" pitchFamily="2" charset="0"/>
              </a:rPr>
              <a:t>Train-test split: 80?20</a:t>
            </a:r>
            <a:endParaRPr lang="en-ID" sz="1200" dirty="0">
              <a:solidFill>
                <a:schemeClr val="bg1"/>
              </a:solidFill>
              <a:latin typeface="Glacial Indifference" pitchFamily="2" charset="0"/>
              <a:ea typeface="Inter" panose="020B0502030000000004" pitchFamily="34" charset="0"/>
              <a:cs typeface="Poppins" panose="000005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0B6FCC-2246-2198-5392-7F60E3489A98}"/>
              </a:ext>
            </a:extLst>
          </p:cNvPr>
          <p:cNvSpPr txBox="1"/>
          <p:nvPr/>
        </p:nvSpPr>
        <p:spPr>
          <a:xfrm>
            <a:off x="5448108" y="2360979"/>
            <a:ext cx="2173068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Glacial Indifference" pitchFamily="2" charset="0"/>
              </a:rPr>
              <a:t>Data loading &amp; Schema Detection</a:t>
            </a:r>
          </a:p>
        </p:txBody>
      </p:sp>
      <p:sp>
        <p:nvSpPr>
          <p:cNvPr id="4" name="Rounded Rectangle 14">
            <a:extLst>
              <a:ext uri="{FF2B5EF4-FFF2-40B4-BE49-F238E27FC236}">
                <a16:creationId xmlns:a16="http://schemas.microsoft.com/office/drawing/2014/main" id="{9DE8686F-B224-292C-09C7-3D5AF180FABA}"/>
              </a:ext>
            </a:extLst>
          </p:cNvPr>
          <p:cNvSpPr/>
          <p:nvPr/>
        </p:nvSpPr>
        <p:spPr>
          <a:xfrm>
            <a:off x="5446934" y="1843393"/>
            <a:ext cx="194536" cy="19453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Glacial Indifference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81C0A0-FA10-4083-1C04-37CFC90343B1}"/>
              </a:ext>
            </a:extLst>
          </p:cNvPr>
          <p:cNvSpPr/>
          <p:nvPr/>
        </p:nvSpPr>
        <p:spPr>
          <a:xfrm>
            <a:off x="5446934" y="2991806"/>
            <a:ext cx="2312012" cy="80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en-ID" sz="1200" dirty="0">
                <a:solidFill>
                  <a:schemeClr val="bg1"/>
                </a:solidFill>
                <a:latin typeface="Glacial Indifference" pitchFamily="2" charset="0"/>
                <a:ea typeface="Inter" panose="020B0502030000000004" pitchFamily="34" charset="0"/>
                <a:cs typeface="Poppins" panose="00000500000000000000" pitchFamily="2" charset="0"/>
              </a:rPr>
              <a:t>Auto-detected timestamp and numeric fields </a:t>
            </a:r>
          </a:p>
          <a:p>
            <a:pPr>
              <a:lnSpc>
                <a:spcPct val="150000"/>
              </a:lnSpc>
            </a:pPr>
            <a:r>
              <a:rPr lang="en-ID" sz="1200" dirty="0">
                <a:solidFill>
                  <a:schemeClr val="bg1"/>
                </a:solidFill>
                <a:latin typeface="Glacial Indifference" pitchFamily="2" charset="0"/>
                <a:ea typeface="Inter" panose="020B0502030000000004" pitchFamily="34" charset="0"/>
                <a:cs typeface="Poppins" panose="00000500000000000000" pitchFamily="2" charset="0"/>
              </a:rPr>
              <a:t>Schema inferred using Spark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27FF47-3AA7-1105-4A10-193188A54FA6}"/>
              </a:ext>
            </a:extLst>
          </p:cNvPr>
          <p:cNvSpPr txBox="1"/>
          <p:nvPr/>
        </p:nvSpPr>
        <p:spPr>
          <a:xfrm>
            <a:off x="8625167" y="2360979"/>
            <a:ext cx="2173068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Glacial Indifference" pitchFamily="2" charset="0"/>
              </a:rPr>
              <a:t>Data Cleaning</a:t>
            </a:r>
          </a:p>
        </p:txBody>
      </p:sp>
      <p:sp>
        <p:nvSpPr>
          <p:cNvPr id="7" name="Rounded Rectangle 14">
            <a:extLst>
              <a:ext uri="{FF2B5EF4-FFF2-40B4-BE49-F238E27FC236}">
                <a16:creationId xmlns:a16="http://schemas.microsoft.com/office/drawing/2014/main" id="{DBE2B540-4156-A787-5F5D-59E30976CF5A}"/>
              </a:ext>
            </a:extLst>
          </p:cNvPr>
          <p:cNvSpPr/>
          <p:nvPr/>
        </p:nvSpPr>
        <p:spPr>
          <a:xfrm>
            <a:off x="8623993" y="1843393"/>
            <a:ext cx="194536" cy="19453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  <a:latin typeface="Glacial Indifference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06B2383-93AD-31A9-8813-78F32FC96921}"/>
              </a:ext>
            </a:extLst>
          </p:cNvPr>
          <p:cNvSpPr/>
          <p:nvPr/>
        </p:nvSpPr>
        <p:spPr>
          <a:xfrm>
            <a:off x="8623992" y="2991806"/>
            <a:ext cx="2838665" cy="80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en-ID" sz="1200" dirty="0">
                <a:solidFill>
                  <a:schemeClr val="bg1"/>
                </a:solidFill>
                <a:latin typeface="Glacial Indifference" pitchFamily="2" charset="0"/>
                <a:ea typeface="Roboto Condensed" panose="02000000000000000000" pitchFamily="2" charset="0"/>
                <a:cs typeface="Poppins" panose="00000500000000000000" pitchFamily="2" charset="0"/>
              </a:rPr>
              <a:t>Remove nulls</a:t>
            </a:r>
          </a:p>
          <a:p>
            <a:pPr>
              <a:lnSpc>
                <a:spcPct val="150000"/>
              </a:lnSpc>
            </a:pPr>
            <a:r>
              <a:rPr lang="en-ID" sz="1200" dirty="0">
                <a:solidFill>
                  <a:schemeClr val="bg1"/>
                </a:solidFill>
                <a:latin typeface="Glacial Indifference" pitchFamily="2" charset="0"/>
                <a:ea typeface="Roboto Condensed" panose="02000000000000000000" pitchFamily="2" charset="0"/>
                <a:cs typeface="Poppins" panose="00000500000000000000" pitchFamily="2" charset="0"/>
              </a:rPr>
              <a:t>Converted timestamp fields </a:t>
            </a:r>
          </a:p>
          <a:p>
            <a:pPr>
              <a:lnSpc>
                <a:spcPct val="150000"/>
              </a:lnSpc>
            </a:pPr>
            <a:r>
              <a:rPr lang="en-ID" sz="1200" dirty="0">
                <a:solidFill>
                  <a:schemeClr val="bg1"/>
                </a:solidFill>
                <a:latin typeface="Glacial Indifference" pitchFamily="2" charset="0"/>
                <a:ea typeface="Roboto Condensed" panose="02000000000000000000" pitchFamily="2" charset="0"/>
                <a:cs typeface="Poppins" panose="00000500000000000000" pitchFamily="2" charset="0"/>
              </a:rPr>
              <a:t>Cast energy usage to proper types</a:t>
            </a:r>
            <a:endParaRPr lang="en-ID" sz="1200" dirty="0">
              <a:solidFill>
                <a:schemeClr val="bg1"/>
              </a:solidFill>
              <a:latin typeface="Glacial Indifference" pitchFamily="2" charset="0"/>
              <a:ea typeface="Inter" panose="020B0502030000000004" pitchFamily="34" charset="0"/>
              <a:cs typeface="Poppins" panose="00000500000000000000" pitchFamily="2" charset="0"/>
            </a:endParaRPr>
          </a:p>
        </p:txBody>
      </p:sp>
      <p:pic>
        <p:nvPicPr>
          <p:cNvPr id="10" name="Picture 9" descr="Blue icons of data collection and data processing&#10;&#10;AI-generated content may be incorrect.">
            <a:extLst>
              <a:ext uri="{FF2B5EF4-FFF2-40B4-BE49-F238E27FC236}">
                <a16:creationId xmlns:a16="http://schemas.microsoft.com/office/drawing/2014/main" id="{E646D9C5-7FF9-8858-1337-B88F73573B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918" y="1777039"/>
            <a:ext cx="3248478" cy="3124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569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4E0F519-DBB5-FC45-9E93-A42198DC537B}"/>
              </a:ext>
            </a:extLst>
          </p:cNvPr>
          <p:cNvSpPr/>
          <p:nvPr/>
        </p:nvSpPr>
        <p:spPr>
          <a:xfrm>
            <a:off x="7726105" y="3618750"/>
            <a:ext cx="1835338" cy="44333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D8783">
                  <a:lumMod val="85000"/>
                  <a:lumOff val="15000"/>
                </a:srgbClr>
              </a:gs>
              <a:gs pos="100000">
                <a:srgbClr val="097F8B">
                  <a:lumMod val="98000"/>
                  <a:lumOff val="2000"/>
                </a:srgbClr>
              </a:gs>
            </a:gsLst>
            <a:path path="circle">
              <a:fillToRect r="100000" b="10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Glacial Indifference" pitchFamily="2" charset="0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81F91F96-4AB6-764A-8742-19902760E750}"/>
              </a:ext>
            </a:extLst>
          </p:cNvPr>
          <p:cNvSpPr txBox="1"/>
          <p:nvPr/>
        </p:nvSpPr>
        <p:spPr>
          <a:xfrm>
            <a:off x="7726105" y="663275"/>
            <a:ext cx="3949958" cy="18466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0" dirty="0">
                <a:latin typeface="Glacial Indifference" pitchFamily="2" charset="0"/>
                <a:cs typeface="Poppins" pitchFamily="2" charset="77"/>
              </a:rPr>
              <a:t>Results and Discussions</a:t>
            </a:r>
            <a:endParaRPr lang="en-US" sz="6000" dirty="0">
              <a:latin typeface="Glacial Indifference" pitchFamily="2" charset="0"/>
              <a:ea typeface="Jost" pitchFamily="2" charset="0"/>
              <a:cs typeface="Poppins" pitchFamily="2" charset="77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1D66F8-F980-484F-AB12-A182A167A7AF}"/>
              </a:ext>
            </a:extLst>
          </p:cNvPr>
          <p:cNvSpPr/>
          <p:nvPr/>
        </p:nvSpPr>
        <p:spPr>
          <a:xfrm>
            <a:off x="7726105" y="4543664"/>
            <a:ext cx="3949957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buNone/>
            </a:pPr>
            <a:r>
              <a:rPr lang="en-US" sz="1200" b="1"/>
              <a:t>1. Exploratory Data Analysis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/>
              <a:t>Energy peaks at </a:t>
            </a:r>
            <a:r>
              <a:rPr lang="en-US" sz="1200" b="1"/>
              <a:t>6–9 AM</a:t>
            </a:r>
            <a:r>
              <a:rPr lang="en-US" sz="1200"/>
              <a:t> and </a:t>
            </a:r>
            <a:r>
              <a:rPr lang="en-US" sz="1200" b="1"/>
              <a:t>6–10 PM</a:t>
            </a:r>
            <a:endParaRPr lang="en-US" sz="1200"/>
          </a:p>
          <a:p>
            <a:pPr>
              <a:buFont typeface="Arial" panose="020B0604020202020204" pitchFamily="34" charset="0"/>
              <a:buChar char="•"/>
            </a:pPr>
            <a:r>
              <a:rPr lang="en-US" sz="1200"/>
              <a:t>Higher loads seen during summer and winter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/>
              <a:t>Strong correlation between </a:t>
            </a:r>
            <a:r>
              <a:rPr lang="en-US" sz="1200" b="1"/>
              <a:t>temperature</a:t>
            </a:r>
            <a:r>
              <a:rPr lang="en-US" sz="1200"/>
              <a:t> and energy usage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8614AA-5B4C-4C40-B14E-183FD2E925B1}"/>
              </a:ext>
            </a:extLst>
          </p:cNvPr>
          <p:cNvSpPr txBox="1"/>
          <p:nvPr/>
        </p:nvSpPr>
        <p:spPr>
          <a:xfrm>
            <a:off x="7864275" y="3686529"/>
            <a:ext cx="1558999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000" dirty="0">
                <a:solidFill>
                  <a:schemeClr val="bg1"/>
                </a:solidFill>
                <a:latin typeface="Glacial Indifference" pitchFamily="2" charset="0"/>
                <a:ea typeface="Jost" pitchFamily="2" charset="0"/>
                <a:cs typeface="Poppins" pitchFamily="2" charset="77"/>
              </a:rPr>
              <a:t>Topic 001</a:t>
            </a:r>
            <a:endParaRPr lang="en-US" dirty="0">
              <a:solidFill>
                <a:schemeClr val="bg1"/>
              </a:solidFill>
              <a:latin typeface="Glacial Indifference" pitchFamily="2" charset="0"/>
              <a:ea typeface="Jost" pitchFamily="2" charset="0"/>
              <a:cs typeface="Poppins" pitchFamily="2" charset="77"/>
            </a:endParaRPr>
          </a:p>
        </p:txBody>
      </p:sp>
      <p:pic>
        <p:nvPicPr>
          <p:cNvPr id="6" name="Picture 5" descr="A diagram of results&#10;&#10;AI-generated content may be incorrect.">
            <a:extLst>
              <a:ext uri="{FF2B5EF4-FFF2-40B4-BE49-F238E27FC236}">
                <a16:creationId xmlns:a16="http://schemas.microsoft.com/office/drawing/2014/main" id="{4C126E4D-F232-CF22-E880-96E29DF5A1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672" y="1443436"/>
            <a:ext cx="5536928" cy="3484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3713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7">
            <a:extLst>
              <a:ext uri="{FF2B5EF4-FFF2-40B4-BE49-F238E27FC236}">
                <a16:creationId xmlns:a16="http://schemas.microsoft.com/office/drawing/2014/main" id="{03AAFDAC-DF80-D247-B87C-1D4CDE7DABAF}"/>
              </a:ext>
            </a:extLst>
          </p:cNvPr>
          <p:cNvSpPr txBox="1"/>
          <p:nvPr/>
        </p:nvSpPr>
        <p:spPr>
          <a:xfrm>
            <a:off x="534988" y="1182682"/>
            <a:ext cx="8925941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0" dirty="0">
                <a:latin typeface="Glacial Indifference" pitchFamily="2" charset="0"/>
                <a:cs typeface="Poppins" pitchFamily="2" charset="77"/>
              </a:rPr>
              <a:t>Results and Discussions</a:t>
            </a:r>
            <a:endParaRPr lang="en-US" sz="6000" dirty="0">
              <a:latin typeface="Glacial Indifference" pitchFamily="2" charset="0"/>
              <a:ea typeface="Jost" pitchFamily="2" charset="0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CDD6724-035F-B54D-82C8-993906F2EEF2}"/>
              </a:ext>
            </a:extLst>
          </p:cNvPr>
          <p:cNvSpPr/>
          <p:nvPr/>
        </p:nvSpPr>
        <p:spPr>
          <a:xfrm>
            <a:off x="4355797" y="4009040"/>
            <a:ext cx="3522718" cy="2175641"/>
          </a:xfrm>
          <a:prstGeom prst="roundRect">
            <a:avLst>
              <a:gd name="adj" fmla="val 5118"/>
            </a:avLst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lacial Indifference" pitchFamily="2" charset="0"/>
            </a:endParaRP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387DF9EF-A0FD-7740-9C7A-67DEF6B31706}"/>
              </a:ext>
            </a:extLst>
          </p:cNvPr>
          <p:cNvSpPr txBox="1"/>
          <p:nvPr/>
        </p:nvSpPr>
        <p:spPr>
          <a:xfrm>
            <a:off x="4705843" y="4359261"/>
            <a:ext cx="2129786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latin typeface="Glacial Indifference" pitchFamily="2" charset="0"/>
                <a:ea typeface="Jost" pitchFamily="2" charset="0"/>
                <a:cs typeface="Poppins" pitchFamily="2" charset="77"/>
              </a:rPr>
              <a:t>Topic 002</a:t>
            </a:r>
            <a:endParaRPr lang="en-US" sz="2400" dirty="0">
              <a:latin typeface="Glacial Indifference" pitchFamily="2" charset="0"/>
              <a:ea typeface="Jost" pitchFamily="2" charset="0"/>
              <a:cs typeface="Poppins" pitchFamily="2" charset="77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BF3E0DEF-FC93-604D-8369-27B83386350E}"/>
              </a:ext>
            </a:extLst>
          </p:cNvPr>
          <p:cNvCxnSpPr>
            <a:cxnSpLocks/>
          </p:cNvCxnSpPr>
          <p:nvPr/>
        </p:nvCxnSpPr>
        <p:spPr>
          <a:xfrm>
            <a:off x="7110865" y="5910245"/>
            <a:ext cx="314793" cy="0"/>
          </a:xfrm>
          <a:prstGeom prst="straightConnector1">
            <a:avLst/>
          </a:prstGeom>
          <a:ln w="22225">
            <a:solidFill>
              <a:schemeClr val="bg1">
                <a:lumMod val="8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694386E-EFFB-8446-9802-BE0E59219767}"/>
              </a:ext>
            </a:extLst>
          </p:cNvPr>
          <p:cNvSpPr/>
          <p:nvPr/>
        </p:nvSpPr>
        <p:spPr>
          <a:xfrm>
            <a:off x="8153345" y="4009040"/>
            <a:ext cx="3522718" cy="2175641"/>
          </a:xfrm>
          <a:prstGeom prst="roundRect">
            <a:avLst>
              <a:gd name="adj" fmla="val 5118"/>
            </a:avLst>
          </a:prstGeom>
          <a:gradFill>
            <a:gsLst>
              <a:gs pos="0">
                <a:srgbClr val="ED8783">
                  <a:lumMod val="85000"/>
                  <a:lumOff val="15000"/>
                </a:srgbClr>
              </a:gs>
              <a:gs pos="100000">
                <a:srgbClr val="097F8B">
                  <a:lumMod val="98000"/>
                  <a:lumOff val="2000"/>
                </a:srgbClr>
              </a:gs>
            </a:gsLst>
            <a:path path="circle">
              <a:fillToRect r="100000" b="100000"/>
            </a:path>
          </a:gra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Glacial Indifference" pitchFamily="2" charset="0"/>
            </a:endParaRP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C068DDCC-0F44-9544-BE4D-3ABCEABA659B}"/>
              </a:ext>
            </a:extLst>
          </p:cNvPr>
          <p:cNvSpPr txBox="1"/>
          <p:nvPr/>
        </p:nvSpPr>
        <p:spPr>
          <a:xfrm>
            <a:off x="8503391" y="4359261"/>
            <a:ext cx="2129786" cy="430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dirty="0">
                <a:solidFill>
                  <a:schemeClr val="bg1"/>
                </a:solidFill>
                <a:latin typeface="Glacial Indifference" pitchFamily="2" charset="0"/>
                <a:ea typeface="Jost" pitchFamily="2" charset="0"/>
                <a:cs typeface="Poppins" pitchFamily="2" charset="77"/>
              </a:rPr>
              <a:t>Topic 003</a:t>
            </a:r>
            <a:endParaRPr lang="en-US" sz="2400" dirty="0">
              <a:solidFill>
                <a:schemeClr val="bg1"/>
              </a:solidFill>
              <a:latin typeface="Glacial Indifference" pitchFamily="2" charset="0"/>
              <a:ea typeface="Jost" pitchFamily="2" charset="0"/>
              <a:cs typeface="Poppins" pitchFamily="2" charset="77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0421CB4-B55B-2443-BE67-E6D7CC19ABED}"/>
              </a:ext>
            </a:extLst>
          </p:cNvPr>
          <p:cNvCxnSpPr>
            <a:cxnSpLocks/>
          </p:cNvCxnSpPr>
          <p:nvPr/>
        </p:nvCxnSpPr>
        <p:spPr>
          <a:xfrm>
            <a:off x="10908413" y="5910245"/>
            <a:ext cx="314793" cy="0"/>
          </a:xfrm>
          <a:prstGeom prst="straightConnector1">
            <a:avLst/>
          </a:prstGeom>
          <a:ln w="22225">
            <a:solidFill>
              <a:schemeClr val="bg1">
                <a:lumMod val="8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4E853CF9-EAA2-BC49-B997-EDF0862125CE}"/>
              </a:ext>
            </a:extLst>
          </p:cNvPr>
          <p:cNvSpPr/>
          <p:nvPr/>
        </p:nvSpPr>
        <p:spPr>
          <a:xfrm>
            <a:off x="4705843" y="5025749"/>
            <a:ext cx="2719815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buNone/>
            </a:pPr>
            <a:r>
              <a:rPr lang="en-US" sz="1200" b="1" dirty="0"/>
              <a:t>3. Feature Importance (Random Forest)</a:t>
            </a:r>
          </a:p>
          <a:p>
            <a:pPr>
              <a:buFont typeface="+mj-lt"/>
              <a:buAutoNum type="arabicPeriod"/>
            </a:pPr>
            <a:r>
              <a:rPr lang="en-US" sz="1200" dirty="0"/>
              <a:t>Hour of Day</a:t>
            </a:r>
          </a:p>
          <a:p>
            <a:pPr>
              <a:buFont typeface="+mj-lt"/>
              <a:buAutoNum type="arabicPeriod"/>
            </a:pPr>
            <a:r>
              <a:rPr lang="en-US" sz="1200" dirty="0"/>
              <a:t>Outdoor Temperature</a:t>
            </a:r>
          </a:p>
          <a:p>
            <a:pPr>
              <a:buFont typeface="+mj-lt"/>
              <a:buAutoNum type="arabicPeriod"/>
            </a:pPr>
            <a:r>
              <a:rPr lang="en-US" sz="1200" dirty="0"/>
              <a:t>Month</a:t>
            </a:r>
          </a:p>
          <a:p>
            <a:pPr>
              <a:buFont typeface="+mj-lt"/>
              <a:buAutoNum type="arabicPeriod"/>
            </a:pPr>
            <a:r>
              <a:rPr lang="en-US" sz="1200" dirty="0"/>
              <a:t>Household Size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3913AE1-8BA5-994D-8D25-F2B9251D2C54}"/>
              </a:ext>
            </a:extLst>
          </p:cNvPr>
          <p:cNvSpPr/>
          <p:nvPr/>
        </p:nvSpPr>
        <p:spPr>
          <a:xfrm>
            <a:off x="8503391" y="4945897"/>
            <a:ext cx="2719815" cy="11079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buNone/>
            </a:pPr>
            <a:r>
              <a:rPr lang="en-US" sz="1200" b="1" dirty="0"/>
              <a:t>4. Practical Findings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Appliance scheduling can reduce peak loads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Seasonal consumption helps grid planning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Models support real-time energy forecasting in smart homes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899AE11-57B3-E64D-95E2-00387082B018}"/>
              </a:ext>
            </a:extLst>
          </p:cNvPr>
          <p:cNvSpPr/>
          <p:nvPr/>
        </p:nvSpPr>
        <p:spPr>
          <a:xfrm>
            <a:off x="534988" y="2608739"/>
            <a:ext cx="4526869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buNone/>
            </a:pPr>
            <a:r>
              <a:rPr lang="en-US" sz="1200" b="1" dirty="0"/>
              <a:t>Practical Findings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Appliance scheduling can reduce peak loads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Seasonal consumption helps grid planning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/>
              <a:t>Models support real-time energy forecasting in smart homes</a:t>
            </a:r>
          </a:p>
        </p:txBody>
      </p:sp>
    </p:spTree>
    <p:extLst>
      <p:ext uri="{BB962C8B-B14F-4D97-AF65-F5344CB8AC3E}">
        <p14:creationId xmlns:p14="http://schemas.microsoft.com/office/powerpoint/2010/main" val="1835800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11">
            <a:extLst>
              <a:ext uri="{FF2B5EF4-FFF2-40B4-BE49-F238E27FC236}">
                <a16:creationId xmlns:a16="http://schemas.microsoft.com/office/drawing/2014/main" id="{82AF50B6-9822-335C-A9AF-C239A2495EE2}"/>
              </a:ext>
            </a:extLst>
          </p:cNvPr>
          <p:cNvSpPr/>
          <p:nvPr/>
        </p:nvSpPr>
        <p:spPr>
          <a:xfrm>
            <a:off x="1822384" y="1535572"/>
            <a:ext cx="8547233" cy="2714324"/>
          </a:xfrm>
          <a:prstGeom prst="roundRect">
            <a:avLst>
              <a:gd name="adj" fmla="val 602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lacial Indifference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48BE15-E125-AC31-3B2D-29BE0C9D3C32}"/>
              </a:ext>
            </a:extLst>
          </p:cNvPr>
          <p:cNvSpPr txBox="1"/>
          <p:nvPr/>
        </p:nvSpPr>
        <p:spPr>
          <a:xfrm>
            <a:off x="2572434" y="518057"/>
            <a:ext cx="704713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Glacial Indifference" pitchFamily="2" charset="0"/>
              </a:rPr>
              <a:t>Diagram Data Chart 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8978EF5-1F31-6344-32B3-F7263600E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230" y="1337891"/>
            <a:ext cx="5023539" cy="418221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D29F73D-5C66-2E96-08A8-148533935D13}"/>
              </a:ext>
            </a:extLst>
          </p:cNvPr>
          <p:cNvSpPr/>
          <p:nvPr/>
        </p:nvSpPr>
        <p:spPr>
          <a:xfrm>
            <a:off x="5116964" y="5664812"/>
            <a:ext cx="2604636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buNone/>
            </a:pPr>
            <a:r>
              <a:rPr lang="en-US" sz="1200" b="1" dirty="0"/>
              <a:t>Temperature vs Energy (Scatter Plot)</a:t>
            </a:r>
          </a:p>
        </p:txBody>
      </p:sp>
    </p:spTree>
    <p:extLst>
      <p:ext uri="{BB962C8B-B14F-4D97-AF65-F5344CB8AC3E}">
        <p14:creationId xmlns:p14="http://schemas.microsoft.com/office/powerpoint/2010/main" val="31754137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FA8D4-7BCC-2A4E-B7B7-8D4CDA215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11">
            <a:extLst>
              <a:ext uri="{FF2B5EF4-FFF2-40B4-BE49-F238E27FC236}">
                <a16:creationId xmlns:a16="http://schemas.microsoft.com/office/drawing/2014/main" id="{B49DBDDF-C5EA-A1C1-DFF3-6FC7EC385E88}"/>
              </a:ext>
            </a:extLst>
          </p:cNvPr>
          <p:cNvSpPr/>
          <p:nvPr/>
        </p:nvSpPr>
        <p:spPr>
          <a:xfrm>
            <a:off x="1822384" y="1618700"/>
            <a:ext cx="8547233" cy="2714324"/>
          </a:xfrm>
          <a:prstGeom prst="roundRect">
            <a:avLst>
              <a:gd name="adj" fmla="val 6029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Glacial Indifference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E6F7DF-3882-9D70-74AB-BE4A083903D6}"/>
              </a:ext>
            </a:extLst>
          </p:cNvPr>
          <p:cNvSpPr txBox="1"/>
          <p:nvPr/>
        </p:nvSpPr>
        <p:spPr>
          <a:xfrm>
            <a:off x="2572434" y="601185"/>
            <a:ext cx="704713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tx1">
                    <a:lumMod val="85000"/>
                    <a:lumOff val="15000"/>
                  </a:schemeClr>
                </a:solidFill>
                <a:latin typeface="Glacial Indifference" pitchFamily="2" charset="0"/>
              </a:rPr>
              <a:t>Diagram Data Chart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18A22A-C349-1DE4-ABFC-4A61213E8E06}"/>
              </a:ext>
            </a:extLst>
          </p:cNvPr>
          <p:cNvSpPr txBox="1"/>
          <p:nvPr/>
        </p:nvSpPr>
        <p:spPr>
          <a:xfrm>
            <a:off x="1589690" y="4646495"/>
            <a:ext cx="63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Glacial Indifference" pitchFamily="2" charset="0"/>
              </a:rPr>
              <a:t>A.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8A0DE59-67A4-20E6-2734-DBCA38BDA61C}"/>
              </a:ext>
            </a:extLst>
          </p:cNvPr>
          <p:cNvSpPr txBox="1"/>
          <p:nvPr/>
        </p:nvSpPr>
        <p:spPr>
          <a:xfrm>
            <a:off x="1945290" y="4646495"/>
            <a:ext cx="10185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bg1"/>
                </a:solidFill>
                <a:latin typeface="Glacial Indifference" pitchFamily="2" charset="0"/>
              </a:rPr>
              <a:t>450K</a:t>
            </a:r>
            <a:endParaRPr lang="en-US" sz="2400" b="1" dirty="0">
              <a:solidFill>
                <a:schemeClr val="bg1"/>
              </a:solidFill>
              <a:latin typeface="Glacial Indifference" pitchFamily="2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BBB9F5-1EFD-4AA9-121D-25A627620532}"/>
              </a:ext>
            </a:extLst>
          </p:cNvPr>
          <p:cNvSpPr txBox="1"/>
          <p:nvPr/>
        </p:nvSpPr>
        <p:spPr>
          <a:xfrm>
            <a:off x="3931471" y="4646495"/>
            <a:ext cx="63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Glacial Indifference" pitchFamily="2" charset="0"/>
              </a:rPr>
              <a:t>B. 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408AF2-3294-8E0F-8937-BDCA7CEAAEC3}"/>
              </a:ext>
            </a:extLst>
          </p:cNvPr>
          <p:cNvSpPr txBox="1"/>
          <p:nvPr/>
        </p:nvSpPr>
        <p:spPr>
          <a:xfrm>
            <a:off x="4287071" y="4646495"/>
            <a:ext cx="10185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Glacial Indifference" pitchFamily="2" charset="0"/>
              </a:rPr>
              <a:t>520K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3ED1AB4-A09B-27CE-3C7D-7A7A2BFBBAFC}"/>
              </a:ext>
            </a:extLst>
          </p:cNvPr>
          <p:cNvSpPr txBox="1"/>
          <p:nvPr/>
        </p:nvSpPr>
        <p:spPr>
          <a:xfrm>
            <a:off x="6271615" y="4646495"/>
            <a:ext cx="63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bg1"/>
                </a:solidFill>
                <a:latin typeface="Glacial Indifference" pitchFamily="2" charset="0"/>
              </a:rPr>
              <a:t>C. </a:t>
            </a:r>
            <a:endParaRPr lang="en-US" sz="2400" b="1" dirty="0">
              <a:solidFill>
                <a:schemeClr val="bg1"/>
              </a:solidFill>
              <a:latin typeface="Glacial Indifference" pitchFamily="2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3FFA332-CCF7-FB88-80A5-2BAFD8A56DDA}"/>
              </a:ext>
            </a:extLst>
          </p:cNvPr>
          <p:cNvSpPr txBox="1"/>
          <p:nvPr/>
        </p:nvSpPr>
        <p:spPr>
          <a:xfrm>
            <a:off x="6627215" y="4646495"/>
            <a:ext cx="10185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bg1"/>
                </a:solidFill>
                <a:latin typeface="Glacial Indifference" pitchFamily="2" charset="0"/>
              </a:rPr>
              <a:t>580K</a:t>
            </a:r>
            <a:endParaRPr lang="en-US" sz="2400" b="1" dirty="0">
              <a:solidFill>
                <a:schemeClr val="bg1"/>
              </a:solidFill>
              <a:latin typeface="Glacial Indifference" pitchFamily="2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1BB69DF-9BE1-8A05-42F0-08551E9D89CF}"/>
              </a:ext>
            </a:extLst>
          </p:cNvPr>
          <p:cNvSpPr txBox="1"/>
          <p:nvPr/>
        </p:nvSpPr>
        <p:spPr>
          <a:xfrm>
            <a:off x="8613396" y="4646495"/>
            <a:ext cx="63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Glacial Indifference" pitchFamily="2" charset="0"/>
              </a:rPr>
              <a:t>D.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7C2503B-F8F4-4FDB-3254-D9905DFE4473}"/>
              </a:ext>
            </a:extLst>
          </p:cNvPr>
          <p:cNvSpPr txBox="1"/>
          <p:nvPr/>
        </p:nvSpPr>
        <p:spPr>
          <a:xfrm>
            <a:off x="8968996" y="4646495"/>
            <a:ext cx="10185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Glacial Indifference" pitchFamily="2" charset="0"/>
              </a:rPr>
              <a:t>420K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A2D03D4-A460-20B3-DACC-80EF242421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415" y="1616848"/>
            <a:ext cx="5444200" cy="404809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8AB5F91-7E9F-F636-B55C-284E39590BF0}"/>
              </a:ext>
            </a:extLst>
          </p:cNvPr>
          <p:cNvSpPr/>
          <p:nvPr/>
        </p:nvSpPr>
        <p:spPr>
          <a:xfrm>
            <a:off x="2680688" y="5849478"/>
            <a:ext cx="1737654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buNone/>
            </a:pPr>
            <a:r>
              <a:rPr lang="en-US" sz="1200" b="1" dirty="0"/>
              <a:t>Energy by Hour (Bar chart)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103466D-D2A1-4D4C-93B2-4D15F1D4BC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7215" y="1618700"/>
            <a:ext cx="5297883" cy="4046243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7C8B85B-A351-46BB-5B2D-FB8A96F0A0DC}"/>
              </a:ext>
            </a:extLst>
          </p:cNvPr>
          <p:cNvSpPr/>
          <p:nvPr/>
        </p:nvSpPr>
        <p:spPr>
          <a:xfrm>
            <a:off x="8642484" y="5849478"/>
            <a:ext cx="1903595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buNone/>
            </a:pPr>
            <a:r>
              <a:rPr lang="en-US" sz="1200" b="1" dirty="0"/>
              <a:t>Energy by Month (Bar chart)</a:t>
            </a:r>
          </a:p>
        </p:txBody>
      </p:sp>
    </p:spTree>
    <p:extLst>
      <p:ext uri="{BB962C8B-B14F-4D97-AF65-F5344CB8AC3E}">
        <p14:creationId xmlns:p14="http://schemas.microsoft.com/office/powerpoint/2010/main" val="3836679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E22F61BC-3F02-8747-963C-747079C64EBA}"/>
              </a:ext>
            </a:extLst>
          </p:cNvPr>
          <p:cNvSpPr/>
          <p:nvPr/>
        </p:nvSpPr>
        <p:spPr>
          <a:xfrm>
            <a:off x="1369544" y="3932449"/>
            <a:ext cx="1835338" cy="44333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D8783">
                  <a:lumMod val="85000"/>
                  <a:lumOff val="15000"/>
                </a:srgbClr>
              </a:gs>
              <a:gs pos="100000">
                <a:srgbClr val="097F8B">
                  <a:lumMod val="98000"/>
                  <a:lumOff val="2000"/>
                </a:srgbClr>
              </a:gs>
            </a:gsLst>
            <a:path path="circle">
              <a:fillToRect r="100000" b="10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Glacial Indifference" pitchFamily="2" charset="0"/>
            </a:endParaRPr>
          </a:p>
        </p:txBody>
      </p:sp>
      <p:sp>
        <p:nvSpPr>
          <p:cNvPr id="2" name="TextBox 7">
            <a:extLst>
              <a:ext uri="{FF2B5EF4-FFF2-40B4-BE49-F238E27FC236}">
                <a16:creationId xmlns:a16="http://schemas.microsoft.com/office/drawing/2014/main" id="{93EAAD04-F202-604D-8F33-BB3AB0570DB2}"/>
              </a:ext>
            </a:extLst>
          </p:cNvPr>
          <p:cNvSpPr txBox="1"/>
          <p:nvPr/>
        </p:nvSpPr>
        <p:spPr>
          <a:xfrm>
            <a:off x="2747981" y="1132405"/>
            <a:ext cx="6696039" cy="184665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6000" dirty="0">
                <a:latin typeface="Glacial Indifference" pitchFamily="2" charset="0"/>
                <a:cs typeface="Poppins" pitchFamily="2" charset="77"/>
              </a:rPr>
              <a:t>Conclusion</a:t>
            </a:r>
            <a:br>
              <a:rPr lang="en-US" sz="8000" dirty="0"/>
            </a:br>
            <a:endParaRPr lang="en-US" sz="6000" dirty="0">
              <a:latin typeface="Glacial Indifference" pitchFamily="2" charset="0"/>
              <a:ea typeface="Jost" pitchFamily="2" charset="0"/>
              <a:cs typeface="Poppins" pitchFamily="2" charset="7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27E237-B4B4-CC44-B8CF-684CC70A78B7}"/>
              </a:ext>
            </a:extLst>
          </p:cNvPr>
          <p:cNvSpPr/>
          <p:nvPr/>
        </p:nvSpPr>
        <p:spPr>
          <a:xfrm>
            <a:off x="1368228" y="4582410"/>
            <a:ext cx="2312012" cy="45967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en-ID" sz="1050" dirty="0">
                <a:latin typeface="Glacial Indifference" pitchFamily="2" charset="0"/>
                <a:ea typeface="Roboto Condensed" panose="02000000000000000000" pitchFamily="2" charset="0"/>
                <a:cs typeface="Poppins" panose="00000500000000000000" pitchFamily="2" charset="0"/>
              </a:rPr>
              <a:t>Clear temporal and environmental patterns in energy usage.</a:t>
            </a:r>
            <a:endParaRPr lang="en-ID" sz="1050" dirty="0">
              <a:latin typeface="Glacial Indifference" pitchFamily="2" charset="0"/>
              <a:ea typeface="Inter" panose="020B0502030000000004" pitchFamily="34" charset="0"/>
              <a:cs typeface="Poppins" panose="00000500000000000000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E9BBA0-6D4E-F141-A89D-523E20373EE9}"/>
              </a:ext>
            </a:extLst>
          </p:cNvPr>
          <p:cNvSpPr txBox="1"/>
          <p:nvPr/>
        </p:nvSpPr>
        <p:spPr>
          <a:xfrm>
            <a:off x="503637" y="3892158"/>
            <a:ext cx="958930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D" sz="5400" dirty="0">
                <a:effectLst/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01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989715-4309-0941-B28E-7C9B4B939FF2}"/>
              </a:ext>
            </a:extLst>
          </p:cNvPr>
          <p:cNvSpPr txBox="1"/>
          <p:nvPr/>
        </p:nvSpPr>
        <p:spPr>
          <a:xfrm>
            <a:off x="1234878" y="4015617"/>
            <a:ext cx="210467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D" dirty="0">
                <a:solidFill>
                  <a:schemeClr val="bg1"/>
                </a:solidFill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Topic</a:t>
            </a:r>
            <a:r>
              <a:rPr lang="en-ID" dirty="0">
                <a:solidFill>
                  <a:schemeClr val="bg1"/>
                </a:solidFill>
                <a:effectLst/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 One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1177B0-ABDA-7B44-B602-805126F2EBAE}"/>
              </a:ext>
            </a:extLst>
          </p:cNvPr>
          <p:cNvSpPr/>
          <p:nvPr/>
        </p:nvSpPr>
        <p:spPr>
          <a:xfrm>
            <a:off x="5476161" y="5448359"/>
            <a:ext cx="2312011" cy="45967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en-ID" sz="1050" dirty="0">
                <a:latin typeface="Glacial Indifference" pitchFamily="2" charset="0"/>
                <a:ea typeface="Roboto Condensed" panose="02000000000000000000" pitchFamily="2" charset="0"/>
                <a:cs typeface="Poppins" panose="00000500000000000000" pitchFamily="2" charset="0"/>
              </a:rPr>
              <a:t>Random Forest is highly effective for forecasting</a:t>
            </a:r>
            <a:endParaRPr lang="en-ID" sz="1050" dirty="0">
              <a:latin typeface="Glacial Indifference" pitchFamily="2" charset="0"/>
              <a:ea typeface="Inter" panose="020B0502030000000004" pitchFamily="34" charset="0"/>
              <a:cs typeface="Poppins" panose="00000500000000000000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8176DD-D45F-CF4F-9CDA-7B7DFB5D1DF6}"/>
              </a:ext>
            </a:extLst>
          </p:cNvPr>
          <p:cNvSpPr txBox="1"/>
          <p:nvPr/>
        </p:nvSpPr>
        <p:spPr>
          <a:xfrm>
            <a:off x="4440120" y="4758107"/>
            <a:ext cx="115621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D" sz="5400" dirty="0">
                <a:effectLst/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A4AE49A-14AA-994B-BDD6-4113F325A8DB}"/>
              </a:ext>
            </a:extLst>
          </p:cNvPr>
          <p:cNvSpPr/>
          <p:nvPr/>
        </p:nvSpPr>
        <p:spPr>
          <a:xfrm>
            <a:off x="9307051" y="5016133"/>
            <a:ext cx="2248833" cy="45967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50000"/>
              </a:lnSpc>
            </a:pPr>
            <a:r>
              <a:rPr lang="en-ID" sz="1050" dirty="0">
                <a:latin typeface="Glacial Indifference" pitchFamily="2" charset="0"/>
                <a:ea typeface="Roboto Condensed" panose="02000000000000000000" pitchFamily="2" charset="0"/>
                <a:cs typeface="Poppins" panose="00000500000000000000" pitchFamily="2" charset="0"/>
              </a:rPr>
              <a:t>Visualizations provide actionable insights for power conservation</a:t>
            </a:r>
            <a:endParaRPr lang="en-ID" sz="1050" dirty="0">
              <a:latin typeface="Glacial Indifference" pitchFamily="2" charset="0"/>
              <a:ea typeface="Inter" panose="020B0502030000000004" pitchFamily="34" charset="0"/>
              <a:cs typeface="Poppins" panose="00000500000000000000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EAA13F6-CEF4-5B47-BA0E-3EDF68234311}"/>
              </a:ext>
            </a:extLst>
          </p:cNvPr>
          <p:cNvSpPr txBox="1"/>
          <p:nvPr/>
        </p:nvSpPr>
        <p:spPr>
          <a:xfrm>
            <a:off x="8271011" y="4325881"/>
            <a:ext cx="1156218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D" sz="5400" dirty="0">
                <a:effectLst/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03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FF8D30B-F65D-7349-B4C2-E408B7BAC454}"/>
              </a:ext>
            </a:extLst>
          </p:cNvPr>
          <p:cNvSpPr/>
          <p:nvPr/>
        </p:nvSpPr>
        <p:spPr>
          <a:xfrm>
            <a:off x="5427194" y="4758107"/>
            <a:ext cx="1835338" cy="44333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D8783">
                  <a:lumMod val="85000"/>
                  <a:lumOff val="15000"/>
                </a:srgbClr>
              </a:gs>
              <a:gs pos="100000">
                <a:srgbClr val="097F8B">
                  <a:lumMod val="98000"/>
                  <a:lumOff val="2000"/>
                </a:srgbClr>
              </a:gs>
            </a:gsLst>
            <a:path path="circle">
              <a:fillToRect r="100000" b="10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Glacial Indifference" pitchFamily="2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EA0A2F-B283-CF48-9665-20CD6A44B95B}"/>
              </a:ext>
            </a:extLst>
          </p:cNvPr>
          <p:cNvSpPr txBox="1"/>
          <p:nvPr/>
        </p:nvSpPr>
        <p:spPr>
          <a:xfrm>
            <a:off x="5292528" y="4841275"/>
            <a:ext cx="210467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D" dirty="0">
                <a:solidFill>
                  <a:schemeClr val="bg1"/>
                </a:solidFill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Topic</a:t>
            </a:r>
            <a:r>
              <a:rPr lang="en-ID" dirty="0">
                <a:solidFill>
                  <a:schemeClr val="bg1"/>
                </a:solidFill>
                <a:effectLst/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 Two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9EAA2164-AF20-F646-A234-B05C99045280}"/>
              </a:ext>
            </a:extLst>
          </p:cNvPr>
          <p:cNvSpPr/>
          <p:nvPr/>
        </p:nvSpPr>
        <p:spPr>
          <a:xfrm>
            <a:off x="9230323" y="4305949"/>
            <a:ext cx="1835338" cy="44333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ED8783">
                  <a:lumMod val="85000"/>
                  <a:lumOff val="15000"/>
                </a:srgbClr>
              </a:gs>
              <a:gs pos="100000">
                <a:srgbClr val="097F8B">
                  <a:lumMod val="98000"/>
                  <a:lumOff val="2000"/>
                </a:srgbClr>
              </a:gs>
            </a:gsLst>
            <a:path path="circle">
              <a:fillToRect r="100000" b="100000"/>
            </a:path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  <a:latin typeface="Glacial Indifference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9205DF-E4F1-A24F-88AA-102016B5C0EB}"/>
              </a:ext>
            </a:extLst>
          </p:cNvPr>
          <p:cNvSpPr txBox="1"/>
          <p:nvPr/>
        </p:nvSpPr>
        <p:spPr>
          <a:xfrm>
            <a:off x="9095657" y="4389117"/>
            <a:ext cx="210467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ID" dirty="0">
                <a:solidFill>
                  <a:schemeClr val="bg1"/>
                </a:solidFill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Topic</a:t>
            </a:r>
            <a:r>
              <a:rPr lang="en-ID" dirty="0">
                <a:solidFill>
                  <a:schemeClr val="bg1"/>
                </a:solidFill>
                <a:effectLst/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 Three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76D617-382E-2661-0D86-1FDD99924713}"/>
              </a:ext>
            </a:extLst>
          </p:cNvPr>
          <p:cNvSpPr/>
          <p:nvPr/>
        </p:nvSpPr>
        <p:spPr>
          <a:xfrm>
            <a:off x="1234879" y="2439341"/>
            <a:ext cx="4861122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buNone/>
            </a:pPr>
            <a:r>
              <a:rPr lang="en-US" sz="1200" dirty="0"/>
              <a:t>This project successfully implemented a scalable </a:t>
            </a:r>
            <a:r>
              <a:rPr lang="en-US" sz="1200" dirty="0" err="1"/>
              <a:t>PySpark</a:t>
            </a:r>
            <a:r>
              <a:rPr lang="en-US" sz="1200" dirty="0"/>
              <a:t>-based analytics pipeline for smart-home energy consumption.</a:t>
            </a:r>
          </a:p>
          <a:p>
            <a:pPr>
              <a:buNone/>
            </a:pPr>
            <a:r>
              <a:rPr lang="en-US" sz="1200" dirty="0"/>
              <a:t>Future enhancements include integrating lag features, implementing streaming analytics, and using advanced deep learning models.</a:t>
            </a:r>
          </a:p>
          <a:p>
            <a:pPr>
              <a:buNone/>
            </a:pPr>
            <a:r>
              <a:rPr lang="en-US" sz="1200" dirty="0"/>
              <a:t>Findings show:</a:t>
            </a:r>
          </a:p>
        </p:txBody>
      </p:sp>
    </p:spTree>
    <p:extLst>
      <p:ext uri="{BB962C8B-B14F-4D97-AF65-F5344CB8AC3E}">
        <p14:creationId xmlns:p14="http://schemas.microsoft.com/office/powerpoint/2010/main" val="41174921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7">
            <a:extLst>
              <a:ext uri="{FF2B5EF4-FFF2-40B4-BE49-F238E27FC236}">
                <a16:creationId xmlns:a16="http://schemas.microsoft.com/office/drawing/2014/main" id="{8DAF0C98-CE0D-B942-95CA-965CFB20018E}"/>
              </a:ext>
            </a:extLst>
          </p:cNvPr>
          <p:cNvSpPr txBox="1"/>
          <p:nvPr/>
        </p:nvSpPr>
        <p:spPr>
          <a:xfrm>
            <a:off x="533190" y="1192050"/>
            <a:ext cx="5562810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0" dirty="0">
                <a:latin typeface="Glacial Indifference" pitchFamily="2" charset="0"/>
                <a:cs typeface="Poppins" pitchFamily="2" charset="77"/>
              </a:rPr>
              <a:t>References</a:t>
            </a:r>
            <a:endParaRPr lang="en-US" sz="6000" dirty="0">
              <a:latin typeface="Glacial Indifference" pitchFamily="2" charset="0"/>
              <a:ea typeface="Jost" pitchFamily="2" charset="0"/>
              <a:cs typeface="Poppins" pitchFamily="2" charset="77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6D77697-57BB-6549-BA5F-8F8224998F64}"/>
              </a:ext>
            </a:extLst>
          </p:cNvPr>
          <p:cNvSpPr/>
          <p:nvPr/>
        </p:nvSpPr>
        <p:spPr>
          <a:xfrm>
            <a:off x="524701" y="4820418"/>
            <a:ext cx="1817457" cy="2308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algn="ctr"/>
            <a:r>
              <a:rPr lang="en-ID" sz="1500" dirty="0">
                <a:solidFill>
                  <a:schemeClr val="bg1"/>
                </a:solidFill>
                <a:latin typeface="Glacial Indifference" pitchFamily="2" charset="0"/>
                <a:ea typeface="Roboto" panose="02000000000000000000" pitchFamily="2" charset="0"/>
                <a:cs typeface="Poppins" pitchFamily="2" charset="77"/>
              </a:rPr>
              <a:t>Highlight Button</a:t>
            </a:r>
            <a:endParaRPr lang="en-US" sz="1500" dirty="0">
              <a:solidFill>
                <a:schemeClr val="bg1"/>
              </a:solidFill>
              <a:latin typeface="Glacial Indifference" pitchFamily="2" charset="0"/>
              <a:ea typeface="Roboto" panose="02000000000000000000" pitchFamily="2" charset="0"/>
              <a:cs typeface="Poppins" pitchFamily="2" charset="77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B48E85F-D442-31B2-8A4D-CE2962C17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190" y="2171745"/>
            <a:ext cx="7215501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PySpark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MLlib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Documentation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Kaggle – Smart Home Energy Dataset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IEEE Smart Grid Publications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Matplotlib &amp; Pandas Documentation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Apache Spark Documentation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Research articles on Energy Forecasting and Smart Home Analytics</a:t>
            </a:r>
          </a:p>
        </p:txBody>
      </p:sp>
    </p:spTree>
    <p:extLst>
      <p:ext uri="{BB962C8B-B14F-4D97-AF65-F5344CB8AC3E}">
        <p14:creationId xmlns:p14="http://schemas.microsoft.com/office/powerpoint/2010/main" val="13788577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0B3DE9D-EC77-624A-8992-1CA5F1F37593}"/>
              </a:ext>
            </a:extLst>
          </p:cNvPr>
          <p:cNvSpPr/>
          <p:nvPr/>
        </p:nvSpPr>
        <p:spPr>
          <a:xfrm>
            <a:off x="2658114" y="2213039"/>
            <a:ext cx="6875772" cy="2431921"/>
          </a:xfrm>
          <a:prstGeom prst="roundRect">
            <a:avLst/>
          </a:prstGeom>
          <a:gradFill>
            <a:gsLst>
              <a:gs pos="0">
                <a:srgbClr val="ED8783">
                  <a:lumMod val="85000"/>
                  <a:lumOff val="15000"/>
                </a:srgbClr>
              </a:gs>
              <a:gs pos="100000">
                <a:srgbClr val="097F8B">
                  <a:lumMod val="98000"/>
                  <a:lumOff val="2000"/>
                </a:srgbClr>
              </a:gs>
            </a:gsLst>
            <a:path path="circle">
              <a:fillToRect r="100000" b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Glacial Indifference" pitchFamily="2" charset="0"/>
            </a:endParaRP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DD151E0D-5794-C54B-B8BF-C921204DF6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8114" y="2898928"/>
            <a:ext cx="6875772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/>
            <a:r>
              <a:rPr lang="en-ID" sz="7000" dirty="0">
                <a:solidFill>
                  <a:schemeClr val="bg1"/>
                </a:solidFill>
                <a:latin typeface="Glacial Indifference" pitchFamily="2" charset="0"/>
                <a:ea typeface="Open Sans SemiBold" pitchFamily="2" charset="0"/>
                <a:cs typeface="Poppins" pitchFamily="2" charset="77"/>
              </a:rPr>
              <a:t>Thank You</a:t>
            </a:r>
            <a:endParaRPr lang="en-ID" sz="7000" dirty="0">
              <a:solidFill>
                <a:schemeClr val="bg1"/>
              </a:solidFill>
              <a:effectLst/>
              <a:latin typeface="Glacial Indifference" pitchFamily="2" charset="0"/>
              <a:ea typeface="Open Sans SemiBold" pitchFamily="2" charset="0"/>
              <a:cs typeface="Poppins" pitchFamily="2" charset="77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3137A04-0961-CB4E-BB09-0282AD79F421}"/>
              </a:ext>
            </a:extLst>
          </p:cNvPr>
          <p:cNvCxnSpPr/>
          <p:nvPr/>
        </p:nvCxnSpPr>
        <p:spPr>
          <a:xfrm>
            <a:off x="515938" y="5106838"/>
            <a:ext cx="11160125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5945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726</TotalTime>
  <Words>673</Words>
  <Application>Microsoft Office PowerPoint</Application>
  <PresentationFormat>Widescreen</PresentationFormat>
  <Paragraphs>135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Arial</vt:lpstr>
      <vt:lpstr>Calibri</vt:lpstr>
      <vt:lpstr>Calibri Light</vt:lpstr>
      <vt:lpstr>Glacial Indifference</vt:lpstr>
      <vt:lpstr>Jost</vt:lpstr>
      <vt:lpstr>Poppins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Yash Rock</cp:lastModifiedBy>
  <cp:revision>74</cp:revision>
  <dcterms:created xsi:type="dcterms:W3CDTF">2023-09-12T06:51:55Z</dcterms:created>
  <dcterms:modified xsi:type="dcterms:W3CDTF">2026-06-08T18:35:24Z</dcterms:modified>
</cp:coreProperties>
</file>